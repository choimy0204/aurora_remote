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2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9FC8F5"/>
                </a:solidFill>
                <a:latin typeface="맑은 고딕"/>
              </a:rPr>
              <a:t>UbiSam 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</a:rPr>
              <a:t>Aurora Remote Controller 사용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D6E6"/>
                </a:solidFill>
                <a:latin typeface="맑은 고딕"/>
              </a:rPr>
              <a:t>설치 · 서버 · 배포 · 클라이언트 · 반입/반출 · 원격 조작 · 업데이트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6E6"/>
                </a:solidFill>
                <a:latin typeface="맑은 고딕"/>
              </a:rPr>
              <a:t>v2.12.1  ·  2026.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A3A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1031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103120" cy="9144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A3A"/>
                </a:solidFill>
                <a:latin typeface="맑은 고딕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874519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A3A"/>
                </a:solidFill>
                <a:latin typeface="맑은 고딕"/>
              </a:rPr>
              <a:t>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1874519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Aurora 프로그램 두 가지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처음 설치하기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1463040"/>
            <a:ext cx="21031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463040"/>
            <a:ext cx="2103120" cy="9144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169164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76D2"/>
                </a:solidFill>
                <a:latin typeface="맑은 고딕"/>
              </a:rPr>
              <a:t>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011680"/>
            <a:ext cx="1874519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A3A"/>
                </a:solidFill>
                <a:latin typeface="맑은 고딕"/>
              </a:rPr>
              <a:t>서버 (관리 PC)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880360"/>
            <a:ext cx="1874519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서버 뷰 — 매일 쓰는 기능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상태 표 읽는 법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배포 뷰 — 새 버전 배포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단일 배포 뷰 — 파일 몇 개만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63040"/>
            <a:ext cx="21031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47488" y="1463040"/>
            <a:ext cx="210312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4648" y="169164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7D32"/>
                </a:solidFill>
                <a:latin typeface="맑은 고딕"/>
              </a:rPr>
              <a:t>PART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011680"/>
            <a:ext cx="1874519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A3A"/>
                </a:solidFill>
                <a:latin typeface="맑은 고딕"/>
              </a:rPr>
              <a:t>클라이언트 (설비 PC)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880360"/>
            <a:ext cx="1874519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설정 탭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프로세스 관리 · 자동 삭제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463040"/>
            <a:ext cx="21031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96912" y="1463040"/>
            <a:ext cx="210312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34071" y="169164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6B35"/>
                </a:solidFill>
                <a:latin typeface="맑은 고딕"/>
              </a:rPr>
              <a:t>PART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2011680"/>
            <a:ext cx="1874519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A3A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2880360"/>
            <a:ext cx="1874519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이중·삼중 원격, 이제 그만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연결 구조 · 준비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반출 · 반입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원격 조작 · 편의 기능 · 안전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6336" y="1463040"/>
            <a:ext cx="21031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46336" y="1463040"/>
            <a:ext cx="2103120" cy="91440"/>
          </a:xfrm>
          <a:prstGeom prst="rect">
            <a:avLst/>
          </a:prstGeom>
          <a:solidFill>
            <a:srgbClr val="C9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83496" y="169164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9372C"/>
                </a:solidFill>
                <a:latin typeface="맑은 고딕"/>
              </a:rPr>
              <a:t>PART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2011680"/>
            <a:ext cx="1874519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A3A"/>
                </a:solidFill>
                <a:latin typeface="맑은 고딕"/>
              </a:rPr>
              <a:t>관리 · 문제 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880360"/>
            <a:ext cx="1874519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업데이트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문제가 생기면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·  포트 · 설정 파일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시작하기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Aurora 프로그램 두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관리 PC 1대에 서버, 설비 PC마다 클라이언트를 설치합니다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F6B7A"/>
                </a:solidFill>
                <a:latin typeface="맑은 고딕"/>
              </a:rPr>
              <a:t>관리 PC (1대)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AuroraServer.exe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60020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dirty="0">
                <a:solidFill>
                  <a:srgbClr val="1E2A3A"/>
                </a:solidFill>
                <a:latin typeface="맑은 고딕"/>
              </a:rPr>
              <a:t>CCW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4884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dirty="0">
                <a:solidFill>
                  <a:srgbClr val="1E2A3A"/>
                </a:solidFill>
                <a:latin typeface="맑은 고딕"/>
              </a:rPr>
              <a:t>CCW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69748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dirty="0">
                <a:solidFill>
                  <a:srgbClr val="1E2A3A"/>
                </a:solidFill>
                <a:latin typeface="맑은 고딕"/>
              </a:rPr>
              <a:t>LFW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24612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dirty="0">
                <a:solidFill>
                  <a:srgbClr val="1E2A3A"/>
                </a:solidFill>
                <a:latin typeface="맑은 고딕"/>
              </a:rPr>
              <a:t>LHS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1945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맑은 고딕"/>
              </a:rPr>
              <a:t>설비 PC마다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AuroraClient.exe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2377440"/>
            <a:ext cx="3017521" cy="0"/>
          </a:xfrm>
          <a:prstGeom prst="line">
            <a:avLst/>
          </a:prstGeom>
          <a:ln w="28575">
            <a:solidFill>
              <a:srgbClr val="1976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49039" y="2880360"/>
            <a:ext cx="3017521" cy="0"/>
          </a:xfrm>
          <a:prstGeom prst="line">
            <a:avLst/>
          </a:prstGeom>
          <a:ln w="285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31920" y="1920240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976D2"/>
                </a:solidFill>
                <a:latin typeface="맑은 고딕"/>
              </a:rPr>
              <a:t>실행 · 종료 · 배포 명령  (9001)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926080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2E7D32"/>
                </a:solidFill>
                <a:latin typeface="맑은 고딕"/>
              </a:rPr>
              <a:t>3초마다 상태 보고  (9000)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5440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73152" cy="16002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79"/>
            <a:ext cx="51663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서버  AuroraServer.exe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516636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설비 PC 상태 보기 · Aurora 실행/종료 명령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새 버전 배포 (폴더 전체 / 파일 몇 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977639"/>
            <a:ext cx="5440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977639"/>
            <a:ext cx="73152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069079"/>
            <a:ext cx="51663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클라이언트  AuroraClient.exe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434840"/>
            <a:ext cx="516636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서버 명령 받아 Aurora 실행/종료 · 상태 보고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파일 반입/반출 · 원격 화면 보기/조작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6072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💡  모르는 항목은 글자 위에 마우스를 0.5초 올리면 설명 풍선이 뜹니다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76072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>
              <a:lnSpc>
                <a:spcPct val="120000"/>
              </a:lnSpc>
            </a:pPr>
            <a:r>
              <a:rPr sz="1200" b="0" spc="-150" dirty="0">
                <a:solidFill>
                  <a:srgbClr val="212529"/>
                </a:solidFill>
                <a:latin typeface="맑은 고딕"/>
              </a:rPr>
              <a:t>💡  X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버튼은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트레이로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숨기기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lang="en-US" altLang="ko-KR" sz="1200" b="0" spc="-150" dirty="0">
                <a:solidFill>
                  <a:srgbClr val="212529"/>
                </a:solidFill>
                <a:latin typeface="맑은 고딕"/>
              </a:rPr>
              <a:t>—</a:t>
            </a:r>
            <a:r>
              <a:rPr lang="ko-KR" altLang="en-US"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완전히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끄려면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트레이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아이콘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우클릭</a:t>
            </a:r>
            <a:r>
              <a:rPr sz="1200" b="0" spc="-150" dirty="0">
                <a:solidFill>
                  <a:srgbClr val="212529"/>
                </a:solidFill>
                <a:latin typeface="맑은 고딕"/>
              </a:rPr>
              <a:t> → </a:t>
            </a:r>
            <a:r>
              <a:rPr sz="1200" b="0" spc="-150" dirty="0" err="1">
                <a:solidFill>
                  <a:srgbClr val="212529"/>
                </a:solidFill>
                <a:latin typeface="맑은 고딕"/>
              </a:rPr>
              <a:t>종료</a:t>
            </a:r>
            <a:endParaRPr sz="1200" b="0" spc="-150" dirty="0">
              <a:solidFill>
                <a:srgbClr val="212529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시작하기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처음 설치하기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한 번만 하면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1031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23160"/>
            <a:ext cx="19202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A3A"/>
                </a:solidFill>
                <a:latin typeface="맑은 고딕"/>
              </a:rPr>
              <a:t>설정 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26080"/>
            <a:ext cx="1920240" cy="2560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RemoteConfig 폴더를 D:\ 바로 아래 복사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없으면 첫 실행 때 자동 생성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66160"/>
            <a:ext cx="146304" cy="0"/>
          </a:xfrm>
          <a:prstGeom prst="line">
            <a:avLst/>
          </a:prstGeom>
          <a:ln w="19050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98064" y="1600200"/>
            <a:ext cx="21031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35224" y="1783080"/>
            <a:ext cx="502920" cy="502920"/>
          </a:xfrm>
          <a:prstGeom prst="ellipse">
            <a:avLst/>
          </a:prstGeom>
          <a:solidFill>
            <a:srgbClr val="C9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423160"/>
            <a:ext cx="19202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9372C"/>
                </a:solidFill>
                <a:latin typeface="맑은 고딕"/>
              </a:rPr>
              <a:t>방화벽 허용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926080"/>
            <a:ext cx="1920240" cy="2560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서버 PC: TCP 9000 인바운드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클라이언트 PC: TCP 9001 인바운드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첫 실행 창에서 [액세스 허용]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3" y="3566160"/>
            <a:ext cx="146305" cy="0"/>
          </a:xfrm>
          <a:prstGeom prst="line">
            <a:avLst/>
          </a:prstGeom>
          <a:ln w="19050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47488" y="1600200"/>
            <a:ext cx="21031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84648" y="178308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423160"/>
            <a:ext cx="19202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35"/>
                </a:solidFill>
                <a:latin typeface="맑은 고딕"/>
              </a:rPr>
              <a:t>D 드라이브 공유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926080"/>
            <a:ext cx="1920240" cy="2560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배포를 쓸 때만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클라이언트 D: 를 공유 이름 D 로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서버 계정(기본 user)에 쓰기 권한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0607" y="3566160"/>
            <a:ext cx="146305" cy="0"/>
          </a:xfrm>
          <a:prstGeom prst="line">
            <a:avLst/>
          </a:prstGeom>
          <a:ln w="19050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296912" y="1600200"/>
            <a:ext cx="21031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34071" y="17830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423160"/>
            <a:ext cx="19202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7D32"/>
                </a:solidFill>
                <a:latin typeface="맑은 고딕"/>
              </a:rPr>
              <a:t>클라이언트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926080"/>
            <a:ext cx="1920240" cy="2560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AuroraClient.exe 실행 (자동 시작 등록)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설정 탭 → 서버 IP 추가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프로세스 관리 → 실행 경로 [적용]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00032" y="3566160"/>
            <a:ext cx="146304" cy="0"/>
          </a:xfrm>
          <a:prstGeom prst="line">
            <a:avLst/>
          </a:prstGeom>
          <a:ln w="19050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546336" y="1600200"/>
            <a:ext cx="21031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83496" y="178308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3" y="2423160"/>
            <a:ext cx="19202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976D2"/>
                </a:solidFill>
                <a:latin typeface="맑은 고딕"/>
              </a:rPr>
              <a:t>서버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063" y="2926080"/>
            <a:ext cx="1920240" cy="2560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AuroraServer.exe 실행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서버 뷰 → 전체 공정 IP [+ 추가]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● 온라인 이 뜨면 준비 완료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설정은 EXE 위치와 상관없이 항상 D:\RemoteConfig 에 저장됩니다   ·   server_config.json / client_config.json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서버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서버 뷰 — 매일 쓰는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왼쪽 메뉴 [서버 뷰]  ·  여러 설비 PC의 Aurora를 한 번에 켜고 끕니다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rv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481653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1632360" y="2179066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3420513" y="2191822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071506" y="2172208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577750" y="267233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5257252" y="2673857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2106679" y="297748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1714910" y="3460483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1632360" y="531266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5501731" y="170505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18" name="Oval 17"/>
          <p:cNvSpPr/>
          <p:nvPr/>
        </p:nvSpPr>
        <p:spPr>
          <a:xfrm>
            <a:off x="8202167" y="157276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1554480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전체 공정 실행/종료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온라인인 모든 PC</a:t>
            </a:r>
          </a:p>
        </p:txBody>
      </p:sp>
      <p:sp>
        <p:nvSpPr>
          <p:cNvPr id="20" name="Oval 19"/>
          <p:cNvSpPr/>
          <p:nvPr/>
        </p:nvSpPr>
        <p:spPr>
          <a:xfrm>
            <a:off x="8202167" y="2057400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039112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현재 공정 실행/종료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현재 공정 목록의 PC만</a:t>
            </a:r>
          </a:p>
        </p:txBody>
      </p:sp>
      <p:sp>
        <p:nvSpPr>
          <p:cNvPr id="22" name="Oval 21"/>
          <p:cNvSpPr/>
          <p:nvPr/>
        </p:nvSpPr>
        <p:spPr>
          <a:xfrm>
            <a:off x="8202167" y="2542032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523744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핑 모드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Manual / Auto(5초마다)</a:t>
            </a:r>
          </a:p>
        </p:txBody>
      </p:sp>
      <p:sp>
        <p:nvSpPr>
          <p:cNvPr id="24" name="Oval 23"/>
          <p:cNvSpPr/>
          <p:nvPr/>
        </p:nvSpPr>
        <p:spPr>
          <a:xfrm>
            <a:off x="8202167" y="302666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3008376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포트 설정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보통 그대로 (바꾸면 재시작)</a:t>
            </a:r>
          </a:p>
        </p:txBody>
      </p:sp>
      <p:sp>
        <p:nvSpPr>
          <p:cNvPr id="26" name="Oval 25"/>
          <p:cNvSpPr/>
          <p:nvPr/>
        </p:nvSpPr>
        <p:spPr>
          <a:xfrm>
            <a:off x="8202167" y="3511296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3493008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자동 시작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Windows 로그인 시 서버 실행</a:t>
            </a:r>
          </a:p>
        </p:txBody>
      </p:sp>
      <p:sp>
        <p:nvSpPr>
          <p:cNvPr id="28" name="Oval 27"/>
          <p:cNvSpPr/>
          <p:nvPr/>
        </p:nvSpPr>
        <p:spPr>
          <a:xfrm>
            <a:off x="8202167" y="399592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3977640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배포 버전명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[전체 경로 적용] = 경로 일괄 변경</a:t>
            </a:r>
          </a:p>
        </p:txBody>
      </p:sp>
      <p:sp>
        <p:nvSpPr>
          <p:cNvPr id="30" name="Oval 29"/>
          <p:cNvSpPr/>
          <p:nvPr/>
        </p:nvSpPr>
        <p:spPr>
          <a:xfrm>
            <a:off x="8202167" y="4480559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4462272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전체 공정 IP 관리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+ 추가 / − 삭제</a:t>
            </a:r>
          </a:p>
        </p:txBody>
      </p:sp>
      <p:sp>
        <p:nvSpPr>
          <p:cNvPr id="32" name="Oval 31"/>
          <p:cNvSpPr/>
          <p:nvPr/>
        </p:nvSpPr>
        <p:spPr>
          <a:xfrm>
            <a:off x="8202167" y="4965192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7928" y="4946904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현재 공정 IP 관리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지금 작업 라인만 따로</a:t>
            </a:r>
          </a:p>
        </p:txBody>
      </p:sp>
      <p:sp>
        <p:nvSpPr>
          <p:cNvPr id="34" name="Oval 33"/>
          <p:cNvSpPr/>
          <p:nvPr/>
        </p:nvSpPr>
        <p:spPr>
          <a:xfrm>
            <a:off x="8202167" y="544982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5431536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최신 버전 확인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서버 업데이트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594360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⚠  [종료]는 Aurora 강제 종료
저장할 작업이 없는지 먼저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서버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상태 표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PC마다 연결 · Aurora 실행 · 응답 시간 · 네트워크 · 경로를 한 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rv_main.png"/>
          <p:cNvPicPr>
            <a:picLocks noChangeAspect="1"/>
          </p:cNvPicPr>
          <p:nvPr/>
        </p:nvPicPr>
        <p:blipFill>
          <a:blip r:embed="rId2"/>
          <a:srcRect l="17418" t="44162" r="2152" b="30015"/>
          <a:stretch>
            <a:fillRect/>
          </a:stretch>
        </p:blipFill>
        <p:spPr>
          <a:xfrm>
            <a:off x="548640" y="1508760"/>
            <a:ext cx="11064240" cy="2431313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48640" y="41605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73152" cy="1325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251959"/>
            <a:ext cx="2377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맑은 고딕"/>
              </a:rPr>
              <a:t>연결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2377440" cy="82295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● 온라인 = 10초 안에 응답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○ 오프라인 = 10초 넘게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41605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6704" y="4160520"/>
            <a:ext cx="73152" cy="132588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4251959"/>
            <a:ext cx="2377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976D2"/>
                </a:solidFill>
                <a:latin typeface="맑은 고딕"/>
              </a:rPr>
              <a:t>Aurora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617720"/>
            <a:ext cx="2377440" cy="82295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● 실행중 / ○ 중지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(오프라인이면 —)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41605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4160520"/>
            <a:ext cx="73152" cy="13258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4251959"/>
            <a:ext cx="2377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35"/>
                </a:solidFill>
                <a:latin typeface="맑은 고딕"/>
              </a:rPr>
              <a:t>마지막 응답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617720"/>
            <a:ext cx="2377440" cy="82295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마지막 소식 후 지난 시간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클라이언트는 3초마다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41605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42832" y="4160520"/>
            <a:ext cx="73152" cy="1325880"/>
          </a:xfrm>
          <a:prstGeom prst="rect">
            <a:avLst/>
          </a:prstGeom>
          <a:solidFill>
            <a:srgbClr val="C9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1" y="4251959"/>
            <a:ext cx="2377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9372C"/>
                </a:solidFill>
                <a:latin typeface="맑은 고딕"/>
              </a:rPr>
              <a:t>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1" y="4617720"/>
            <a:ext cx="2377440" cy="82295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🟢 10ms 미만  🟡 50ms 미만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🔴 그 이상 · 시간초과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이름 바꾸기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CLIENT 이름 더블클릭 (예: CCW 1)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ID / PW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단일 배포 때 쓰는 PC별 계정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66928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경로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그 PC가 지금 쓰는 Aurora 실행 경로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명령은 누른 순간 한 번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— 꺼져 있던 PC엔 안 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서버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배포 뷰 — 새 버전 폴더 통째로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Aurora 폴더 전체를 여러 설비 PC에 복사하고 실행 경로까지 바꿔 줍니다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rv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481653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1714910" y="220332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714910" y="249461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714910" y="277441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714910" y="4138891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317027" y="3931919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287458" y="220332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6344950" y="3931919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8202167" y="157276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554480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배포 소스 폴더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버전 폴더들의 상위 폴더 [적용]</a:t>
            </a:r>
          </a:p>
        </p:txBody>
      </p:sp>
      <p:sp>
        <p:nvSpPr>
          <p:cNvPr id="18" name="Oval 17"/>
          <p:cNvSpPr/>
          <p:nvPr/>
        </p:nvSpPr>
        <p:spPr>
          <a:xfrm>
            <a:off x="8202167" y="2057400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039112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내부 경로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폴더 안 실제 복사할 곳</a:t>
            </a:r>
          </a:p>
        </p:txBody>
      </p:sp>
      <p:sp>
        <p:nvSpPr>
          <p:cNvPr id="20" name="Oval 19"/>
          <p:cNvSpPr/>
          <p:nvPr/>
        </p:nvSpPr>
        <p:spPr>
          <a:xfrm>
            <a:off x="8202167" y="2542032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523744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추가 저장 경로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파란 글씨 = 최종 위치</a:t>
            </a:r>
          </a:p>
        </p:txBody>
      </p:sp>
      <p:sp>
        <p:nvSpPr>
          <p:cNvPr id="22" name="Oval 21"/>
          <p:cNvSpPr/>
          <p:nvPr/>
        </p:nvSpPr>
        <p:spPr>
          <a:xfrm>
            <a:off x="8202167" y="302666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008376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배포할 PC 체크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전체 선택/해제 가능</a:t>
            </a:r>
          </a:p>
        </p:txBody>
      </p:sp>
      <p:sp>
        <p:nvSpPr>
          <p:cNvPr id="24" name="Oval 23"/>
          <p:cNvSpPr/>
          <p:nvPr/>
        </p:nvSpPr>
        <p:spPr>
          <a:xfrm>
            <a:off x="8202167" y="3511296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3493008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PC별 소스 폴더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PC마다 다른 버전 가능</a:t>
            </a:r>
          </a:p>
        </p:txBody>
      </p:sp>
      <p:sp>
        <p:nvSpPr>
          <p:cNvPr id="26" name="Oval 25"/>
          <p:cNvSpPr/>
          <p:nvPr/>
        </p:nvSpPr>
        <p:spPr>
          <a:xfrm>
            <a:off x="8202167" y="399592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3977640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▲ 배포하기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멈추려면 ■ 중단</a:t>
            </a:r>
          </a:p>
        </p:txBody>
      </p:sp>
      <p:sp>
        <p:nvSpPr>
          <p:cNvPr id="28" name="Oval 27"/>
          <p:cNvSpPr/>
          <p:nvPr/>
        </p:nvSpPr>
        <p:spPr>
          <a:xfrm>
            <a:off x="8202167" y="4480559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462272"/>
            <a:ext cx="3273552" cy="4846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진행률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PC별 + 전체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50292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12529"/>
                </a:solidFill>
                <a:latin typeface="맑은 고딕"/>
              </a:rPr>
              <a:t>먼저 서버 뷰에서 배포 버전명 [적용]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12529"/>
                </a:solidFill>
                <a:latin typeface="맑은 고딕"/>
              </a:rPr>
              <a:t>소스: D:\releases\_out_ccw\x64-Debug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12529"/>
                </a:solidFill>
                <a:latin typeface="맑은 고딕"/>
              </a:rPr>
              <a:t>대상: D:\Aurora\Aurora_EXE_2.0.0.0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12529"/>
                </a:solidFill>
                <a:latin typeface="맑은 고딕"/>
              </a:rPr>
              <a:t>PC 한 대씩 차례로 · 끝나면 실행 경로 자동 변경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서버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단일 배포 뷰 — 파일 몇 개만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설정 파일 · DLL 등 일부 파일만 교체 · 기존 파일은 자동 백업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rv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481653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1714910" y="220332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714910" y="289706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198574" y="289706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881544" y="220332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5923340" y="316152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8202167" y="157276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1554480"/>
            <a:ext cx="3273552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배포 소스 폴더 [적용]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폴더 안 파일 목록 표시</a:t>
            </a:r>
          </a:p>
        </p:txBody>
      </p:sp>
      <p:sp>
        <p:nvSpPr>
          <p:cNvPr id="16" name="Oval 15"/>
          <p:cNvSpPr/>
          <p:nvPr/>
        </p:nvSpPr>
        <p:spPr>
          <a:xfrm>
            <a:off x="8202167" y="212140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103120"/>
            <a:ext cx="3273552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바꿀 파일 체크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하위 폴더는 제외</a:t>
            </a:r>
          </a:p>
        </p:txBody>
      </p:sp>
      <p:sp>
        <p:nvSpPr>
          <p:cNvPr id="18" name="Oval 17"/>
          <p:cNvSpPr/>
          <p:nvPr/>
        </p:nvSpPr>
        <p:spPr>
          <a:xfrm>
            <a:off x="8202167" y="267004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651760"/>
            <a:ext cx="3273552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배포 대상 PC 체크</a:t>
            </a:r>
          </a:p>
        </p:txBody>
      </p:sp>
      <p:sp>
        <p:nvSpPr>
          <p:cNvPr id="20" name="Oval 19"/>
          <p:cNvSpPr/>
          <p:nvPr/>
        </p:nvSpPr>
        <p:spPr>
          <a:xfrm>
            <a:off x="8202167" y="321868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3200400"/>
            <a:ext cx="3273552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▲ 배포하기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선택한 PC에 동시에 복사</a:t>
            </a:r>
          </a:p>
        </p:txBody>
      </p:sp>
      <p:sp>
        <p:nvSpPr>
          <p:cNvPr id="22" name="Oval 21"/>
          <p:cNvSpPr/>
          <p:nvPr/>
        </p:nvSpPr>
        <p:spPr>
          <a:xfrm>
            <a:off x="8202167" y="3767327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749039"/>
            <a:ext cx="3273552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배포 상태</a:t>
            </a:r>
            <a:r>
              <a:rPr sz="1100" b="0">
                <a:solidFill>
                  <a:srgbClr val="5F6B7A"/>
                </a:solidFill>
                <a:latin typeface="맑은 고딕"/>
              </a:rPr>
              <a:t>  PC별 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44348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12529"/>
                </a:solidFill>
                <a:latin typeface="맑은 고딕"/>
              </a:rPr>
              <a:t>같은 경로로 복사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서버 D:\foo\config.ini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→ 클라이언트 D:\foo\config.ini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576072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12529"/>
                </a:solidFill>
                <a:latin typeface="맑은 고딕"/>
              </a:rPr>
              <a:t>백업: config_20260929_143022.ini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쌓이면 클라이언트 자동 삭제로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클라이언트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클라이언트 — 설정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설비 PC에서 서버 연결 · 포트 · 자동 시작 · 버전 · 긴급 수동 제어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b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3642403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667983" y="2251939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667983" y="2945206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648746" y="2974551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67983" y="4148336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667983" y="441977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67983" y="4687544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667983" y="5160726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667983" y="5593560"/>
            <a:ext cx="274320" cy="274320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4773168" y="157276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554480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상태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서버 연결(전체/일부/연결 안됨) · Aurora 실행 여부 · 마지막 명령</a:t>
            </a:r>
          </a:p>
        </p:txBody>
      </p:sp>
      <p:sp>
        <p:nvSpPr>
          <p:cNvPr id="19" name="Oval 18"/>
          <p:cNvSpPr/>
          <p:nvPr/>
        </p:nvSpPr>
        <p:spPr>
          <a:xfrm>
            <a:off x="4773168" y="2139696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121408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서버 IP 목록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상태를 보고할 서버 — 여러 대 등록 가능</a:t>
            </a:r>
          </a:p>
        </p:txBody>
      </p:sp>
      <p:sp>
        <p:nvSpPr>
          <p:cNvPr id="21" name="Oval 20"/>
          <p:cNvSpPr/>
          <p:nvPr/>
        </p:nvSpPr>
        <p:spPr>
          <a:xfrm>
            <a:off x="4773168" y="270662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688336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핑 모드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서버별 핑 표시 (서버에서 정한 모드가 전달됨)</a:t>
            </a:r>
          </a:p>
        </p:txBody>
      </p:sp>
      <p:sp>
        <p:nvSpPr>
          <p:cNvPr id="23" name="Oval 22"/>
          <p:cNvSpPr/>
          <p:nvPr/>
        </p:nvSpPr>
        <p:spPr>
          <a:xfrm>
            <a:off x="4773168" y="3273551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255263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포트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서버 9000 / 수신 9001 — 바꾸면 재시작</a:t>
            </a:r>
          </a:p>
        </p:txBody>
      </p:sp>
      <p:sp>
        <p:nvSpPr>
          <p:cNvPr id="25" name="Oval 24"/>
          <p:cNvSpPr/>
          <p:nvPr/>
        </p:nvSpPr>
        <p:spPr>
          <a:xfrm>
            <a:off x="4773168" y="3840479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822191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자동 시작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PC 로그인 시 자동 실행 · 기본 ON</a:t>
            </a:r>
          </a:p>
        </p:txBody>
      </p:sp>
      <p:sp>
        <p:nvSpPr>
          <p:cNvPr id="27" name="Oval 26"/>
          <p:cNvSpPr/>
          <p:nvPr/>
        </p:nvSpPr>
        <p:spPr>
          <a:xfrm>
            <a:off x="4773168" y="4407407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389120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버전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[최신 버전 확인] 으로 업데이트</a:t>
            </a:r>
          </a:p>
        </p:txBody>
      </p:sp>
      <p:sp>
        <p:nvSpPr>
          <p:cNvPr id="29" name="Oval 28"/>
          <p:cNvSpPr/>
          <p:nvPr/>
        </p:nvSpPr>
        <p:spPr>
          <a:xfrm>
            <a:off x="4773168" y="4974336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956048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수동 제어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서버 없이 이 PC에서 직접 실행/종료 (긴급용)</a:t>
            </a:r>
          </a:p>
        </p:txBody>
      </p:sp>
      <p:sp>
        <p:nvSpPr>
          <p:cNvPr id="31" name="Oval 30"/>
          <p:cNvSpPr/>
          <p:nvPr/>
        </p:nvSpPr>
        <p:spPr>
          <a:xfrm>
            <a:off x="4773168" y="554126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5522976"/>
            <a:ext cx="6473952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LOG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받은 명령 · 설정 변경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클라이언트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클라이언트 — 프로세스 관리 · 자동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실행할 프로그램 지정 · 자주 끄는 프로그램 · 오래된 로그 자동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b_process.png"/>
          <p:cNvPicPr>
            <a:picLocks noChangeAspect="1"/>
          </p:cNvPicPr>
          <p:nvPr/>
        </p:nvPicPr>
        <p:blipFill>
          <a:blip r:embed="rId2"/>
          <a:srcRect t="13610"/>
          <a:stretch>
            <a:fillRect/>
          </a:stretch>
        </p:blipFill>
        <p:spPr>
          <a:xfrm>
            <a:off x="502920" y="1508760"/>
            <a:ext cx="4216248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pic>
        <p:nvPicPr>
          <p:cNvPr id="9" name="Picture 8" descr="tab_delete.png"/>
          <p:cNvPicPr>
            <a:picLocks noChangeAspect="1"/>
          </p:cNvPicPr>
          <p:nvPr/>
        </p:nvPicPr>
        <p:blipFill>
          <a:blip r:embed="rId3"/>
          <a:srcRect t="13610"/>
          <a:stretch>
            <a:fillRect/>
          </a:stretch>
        </p:blipFill>
        <p:spPr>
          <a:xfrm>
            <a:off x="4434840" y="1508760"/>
            <a:ext cx="4216248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8412480" y="1508760"/>
            <a:ext cx="3246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508760"/>
            <a:ext cx="73152" cy="237744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600200"/>
            <a:ext cx="29718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976D2"/>
                </a:solidFill>
                <a:latin typeface="맑은 고딕"/>
              </a:rPr>
              <a:t>프로세스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965960"/>
            <a:ext cx="2971800" cy="18745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실행 경로: 서버 명령으로 켜고 끌 프로그램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폴더만 지정하면 폴더\폴더이름.exe → 없으면 Aurora.exe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종료 목록: 이름 등록 후 한 번에 강제 종료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023360"/>
            <a:ext cx="3246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4023360"/>
            <a:ext cx="73152" cy="26060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59" y="4114800"/>
            <a:ext cx="29718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35"/>
                </a:solidFill>
                <a:latin typeface="맑은 고딕"/>
              </a:rPr>
              <a:t>자동 삭제 (매일 자정)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4480560"/>
            <a:ext cx="2971800" cy="2103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폴더 · 확장자 · 기한(일) 지정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폴더삭제: 이름에 날짜 있는 폴더 삭제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만들고 고친 뒤 꼭 [적용]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[지금 실행]으로 바로 실행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12529"/>
                </a:solidFill>
                <a:latin typeface="맑은 고딕"/>
              </a:rPr>
              <a:t>Aurora 실행 폴더는 지우지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이중·삼중 원격, 이제 그만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다른 장비에 들어가려고 원격 안에서 또 원격을 켜던 방식이 원격 하나로 바뀝니다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0292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372C"/>
                </a:solidFill>
                <a:latin typeface="맑은 고딕"/>
              </a:rPr>
              <a:t>기존</a:t>
            </a:r>
            <a:r>
              <a:rPr sz="1300" b="0">
                <a:solidFill>
                  <a:srgbClr val="5F6B7A"/>
                </a:solidFill>
                <a:latin typeface="맑은 고딕"/>
              </a:rPr>
              <a:t>   원격 → 원격 → 원격 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5029200" cy="2971800"/>
          </a:xfrm>
          <a:prstGeom prst="rect">
            <a:avLst/>
          </a:prstGeom>
          <a:solidFill>
            <a:srgbClr val="ECEFF3"/>
          </a:solidFill>
          <a:ln w="9525">
            <a:solidFill>
              <a:srgbClr val="9AA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solidFill>
            <a:srgbClr val="8A96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493776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내 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697480"/>
            <a:ext cx="4480560" cy="2377440"/>
          </a:xfrm>
          <a:prstGeom prst="rect">
            <a:avLst/>
          </a:prstGeom>
          <a:solidFill>
            <a:srgbClr val="E1E6EC"/>
          </a:solidFill>
          <a:ln w="9525">
            <a:solidFill>
              <a:srgbClr val="9AA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2697480"/>
            <a:ext cx="4480560" cy="274320"/>
          </a:xfrm>
          <a:prstGeom prst="rect">
            <a:avLst/>
          </a:prstGeom>
          <a:solidFill>
            <a:srgbClr val="8A96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688336"/>
            <a:ext cx="438912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원격 ① 중계 PC 접속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154680"/>
            <a:ext cx="3931920" cy="1783080"/>
          </a:xfrm>
          <a:prstGeom prst="rect">
            <a:avLst/>
          </a:prstGeom>
          <a:solidFill>
            <a:srgbClr val="D3DAE3"/>
          </a:solidFill>
          <a:ln w="9525">
            <a:solidFill>
              <a:srgbClr val="9AA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34440" y="3154680"/>
            <a:ext cx="3931920" cy="274320"/>
          </a:xfrm>
          <a:prstGeom prst="rect">
            <a:avLst/>
          </a:prstGeom>
          <a:solidFill>
            <a:srgbClr val="8A96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3145536"/>
            <a:ext cx="384048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원격 ② 그 안에서 장비 A 접속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611880"/>
            <a:ext cx="3383280" cy="1188720"/>
          </a:xfrm>
          <a:prstGeom prst="rect">
            <a:avLst/>
          </a:prstGeom>
          <a:solidFill>
            <a:srgbClr val="C4CDD8"/>
          </a:solidFill>
          <a:ln w="9525">
            <a:solidFill>
              <a:srgbClr val="9AA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08760" y="3611880"/>
            <a:ext cx="3383280" cy="274320"/>
          </a:xfrm>
          <a:prstGeom prst="rect">
            <a:avLst/>
          </a:prstGeom>
          <a:solidFill>
            <a:srgbClr val="8A96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3602736"/>
            <a:ext cx="329184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원격 ③ 또 그 안에서 장비 B 접속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23360"/>
            <a:ext cx="3200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실제 작업 화면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512064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✕  창 안에 창 — 화면은 작고 느리고, 키 입력이 엉뚱한 창으로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✕  중간 PC마다 원격 프로그램 실행·로그인 필요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✕  파일은 PC를 거칠 때마다 복사 → 복사 반복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1554480"/>
            <a:ext cx="54864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664208"/>
            <a:ext cx="50292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976D2"/>
                </a:solidFill>
                <a:latin typeface="맑은 고딕"/>
              </a:rPr>
              <a:t>이제</a:t>
            </a:r>
            <a:r>
              <a:rPr sz="1300" b="0">
                <a:solidFill>
                  <a:srgbClr val="5F6B7A"/>
                </a:solidFill>
                <a:latin typeface="맑은 고딕"/>
              </a:rPr>
              <a:t>   Aurora 원격 하나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51460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F6B7A"/>
                </a:solidFill>
                <a:latin typeface="맑은 고딕"/>
              </a:rPr>
              <a:t>내 PC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Aurora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51460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F6B7A"/>
                </a:solidFill>
                <a:latin typeface="맑은 고딕"/>
              </a:rPr>
              <a:t>가까운 장비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중계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1874519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장비 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265176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장비 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34290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장비 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9" y="2944368"/>
            <a:ext cx="411481" cy="0"/>
          </a:xfrm>
          <a:prstGeom prst="line">
            <a:avLst/>
          </a:prstGeom>
          <a:ln w="28575">
            <a:solidFill>
              <a:srgbClr val="1976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738360" y="2194560"/>
            <a:ext cx="411480" cy="749808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38360" y="2944368"/>
            <a:ext cx="411480" cy="27432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38360" y="2944368"/>
            <a:ext cx="411480" cy="804671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0" y="3429000"/>
            <a:ext cx="16459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D32"/>
                </a:solidFill>
                <a:latin typeface="맑은 고딕"/>
              </a:rPr>
              <a:t>자동으로 전달만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206240"/>
            <a:ext cx="512064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원격 창은 딱 하나 — 장비 화면이 바로 내 PC에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중계 장비는 사람이 원격 접속할 필요 없음 (Aurora가 알아서 전달)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장비 목록에서 고르고 [원격] 한 번이면 끝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파일도 같은 화면에서 바로 반입/반출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73952" y="571500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장비를 바꿀 때도 목록에서 다른 장비만 고르면 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어떻게 연결되나요?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사무실 PC → 가장 가까운 장비 하나(중계) → 공정망의 다른 장비들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743200" cy="3749039"/>
          </a:xfrm>
          <a:prstGeom prst="rect">
            <a:avLst/>
          </a:prstGeom>
          <a:solidFill>
            <a:srgbClr val="EEF4FB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5603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76D2"/>
                </a:solidFill>
                <a:latin typeface="맑은 고딕"/>
              </a:rPr>
              <a:t>사무실망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691640"/>
            <a:ext cx="7589520" cy="3749039"/>
          </a:xfrm>
          <a:prstGeom prst="rect">
            <a:avLst/>
          </a:prstGeom>
          <a:solidFill>
            <a:srgbClr val="F0F7F0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755648"/>
            <a:ext cx="73152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7D32"/>
                </a:solidFill>
                <a:latin typeface="맑은 고딕"/>
              </a:rPr>
              <a:t>공정망 (장비들)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1752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F6B7A"/>
                </a:solidFill>
                <a:latin typeface="맑은 고딕"/>
              </a:rPr>
              <a:t>내 PC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OFFICE-PC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01752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F6B7A"/>
                </a:solidFill>
                <a:latin typeface="맑은 고딕"/>
              </a:rPr>
              <a:t>가장 가까운 장비 = 중계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LHS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148840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CCW 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858000" y="2459736"/>
            <a:ext cx="1920240" cy="1078992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2926080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CCW 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858000" y="3236976"/>
            <a:ext cx="1920240" cy="301752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0" y="3703320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LFW 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3538728"/>
            <a:ext cx="1920240" cy="475487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4480560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endParaRPr/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3538728"/>
            <a:ext cx="1920240" cy="1252728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1800" y="3538728"/>
            <a:ext cx="1600200" cy="0"/>
          </a:xfrm>
          <a:prstGeom prst="line">
            <a:avLst/>
          </a:prstGeom>
          <a:ln w="34925">
            <a:solidFill>
              <a:srgbClr val="1976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26080" y="3063240"/>
            <a:ext cx="17373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976D2"/>
                </a:solidFill>
                <a:latin typeface="맑은 고딕"/>
              </a:rPr>
              <a:t>포트 9001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73152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79"/>
            <a:ext cx="33832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E7D32"/>
                </a:solidFill>
                <a:latin typeface="맑은 고딕"/>
              </a:rPr>
              <a:t>중계는 아무 장비나 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35040"/>
            <a:ext cx="338328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사무실에서 접속되는 장비라면 어느 것이든 중계가 됩니다 (기본값: LHS)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57784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5577840"/>
            <a:ext cx="73152" cy="100584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5669279"/>
            <a:ext cx="33832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976D2"/>
                </a:solidFill>
                <a:latin typeface="맑은 고딕"/>
              </a:rPr>
              <a:t>중계 장비 화면은 그대로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6035040"/>
            <a:ext cx="338328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중계 장비는 요청을 전달만 합니다. 작업자 화면에 아무것도 뜨지 않아요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5577840"/>
            <a:ext cx="3474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557784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5669279"/>
            <a:ext cx="32004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35"/>
                </a:solidFill>
                <a:latin typeface="맑은 고딕"/>
              </a:rPr>
              <a:t>장비 목록은 자동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35040"/>
            <a:ext cx="320040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Aurora 서버에 등록된 장비만 목록에 나옵니다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시작 전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처음 한 번만 확인하면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224028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2120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버전 확인 (설정 탭 상단)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21208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중계 장비</a:t>
            </a:r>
            <a:r>
              <a:rPr sz="1250" b="0">
                <a:solidFill>
                  <a:srgbClr val="212529"/>
                </a:solidFill>
                <a:latin typeface="맑은 고딕"/>
              </a:rPr>
              <a:t>   v2.7 이상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반입·반출 대상 장비</a:t>
            </a:r>
            <a:r>
              <a:rPr sz="1250" b="0">
                <a:solidFill>
                  <a:srgbClr val="212529"/>
                </a:solidFill>
                <a:latin typeface="맑은 고딕"/>
              </a:rPr>
              <a:t>   v2.9 이상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원격 대상 장비</a:t>
            </a:r>
            <a:r>
              <a:rPr sz="1250" b="0">
                <a:solidFill>
                  <a:srgbClr val="212529"/>
                </a:solidFill>
                <a:latin typeface="맑은 고딕"/>
              </a:rPr>
              <a:t>   v2.11 이상  (중계는 옛 버전이어도 OK)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212529"/>
                </a:solidFill>
                <a:latin typeface="맑은 고딕"/>
              </a:rPr>
              <a:t>내 PC</a:t>
            </a:r>
            <a:r>
              <a:rPr sz="1250" b="0">
                <a:solidFill>
                  <a:srgbClr val="212529"/>
                </a:solidFill>
                <a:latin typeface="맑은 고딕"/>
              </a:rPr>
              <a:t>   최신 v2.12.x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네트워크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52120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중계 장비의 포트 9001 이 사무실에서 열려 있어야 합니다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(Aurora 클라이언트가 실행 중이면 자동으로 열림)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73152" cy="38404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50749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6B35"/>
                </a:solidFill>
                <a:latin typeface="맑은 고딕"/>
              </a:rPr>
              <a:t>중계 PC 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5074920" cy="3337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① 반입/반출 탭으로 이동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② [중계 PC] 칸에 가까운 장비 IP 입력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      예) 192.168.110.152 (LHS)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③ [적용] 클릭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④ 오른쪽에 ● 연결됨 LHS 가 뜨면 준비 끝</a:t>
            </a:r>
          </a:p>
          <a:p>
            <a:pPr algn="l">
              <a:lnSpc>
                <a:spcPct val="120000"/>
              </a:lnSpc>
            </a:pPr>
            <a:endParaRPr sz="1250" b="0">
              <a:solidFill>
                <a:srgbClr val="212529"/>
              </a:solidFill>
              <a:latin typeface="맑은 고딕"/>
            </a:endParaRP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다음부터는 저장된 값으로 자동 연결됩니다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💡  장비가 목록에 안 보이면 [장비 검색] — 서버에 등록된 장비 중 지금 응답하는 장비를 다시 찾습니다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반입/반출 화면 한눈에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이 화면 하나에서 장비 선택 · 원격 · 파일 주고받기를 모두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port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270135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2062325" y="2591315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2410793" y="2859085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3162749" y="2756378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905984" y="3196548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4886747" y="3508335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2887643" y="3735756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3551566" y="3900819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8019288" y="161848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00200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중계 PC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가까운 장비 IP + [적용]</a:t>
            </a:r>
          </a:p>
        </p:txBody>
      </p:sp>
      <p:sp>
        <p:nvSpPr>
          <p:cNvPr id="18" name="Oval 17"/>
          <p:cNvSpPr/>
          <p:nvPr/>
        </p:nvSpPr>
        <p:spPr>
          <a:xfrm>
            <a:off x="8019288" y="225856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240280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장비 선택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작업할 장비 고르기</a:t>
            </a:r>
          </a:p>
        </p:txBody>
      </p:sp>
      <p:sp>
        <p:nvSpPr>
          <p:cNvPr id="20" name="Oval 19"/>
          <p:cNvSpPr/>
          <p:nvPr/>
        </p:nvSpPr>
        <p:spPr>
          <a:xfrm>
            <a:off x="8019288" y="289864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880360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원격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장비 화면 열기 (15장)</a:t>
            </a:r>
          </a:p>
        </p:txBody>
      </p:sp>
      <p:sp>
        <p:nvSpPr>
          <p:cNvPr id="22" name="Oval 21"/>
          <p:cNvSpPr/>
          <p:nvPr/>
        </p:nvSpPr>
        <p:spPr>
          <a:xfrm>
            <a:off x="8019288" y="3538727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520439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접속 경로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내 PC → 중계 → 대상</a:t>
            </a:r>
          </a:p>
        </p:txBody>
      </p:sp>
      <p:sp>
        <p:nvSpPr>
          <p:cNvPr id="24" name="Oval 23"/>
          <p:cNvSpPr/>
          <p:nvPr/>
        </p:nvSpPr>
        <p:spPr>
          <a:xfrm>
            <a:off x="8019288" y="4178807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160520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장비 파일 목록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더블클릭으로 폴더 이동</a:t>
            </a:r>
          </a:p>
        </p:txBody>
      </p:sp>
      <p:sp>
        <p:nvSpPr>
          <p:cNvPr id="26" name="Oval 25"/>
          <p:cNvSpPr/>
          <p:nvPr/>
        </p:nvSpPr>
        <p:spPr>
          <a:xfrm>
            <a:off x="8019288" y="481888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800600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저장 폴더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반출 파일이 저장될 곳</a:t>
            </a:r>
          </a:p>
        </p:txBody>
      </p:sp>
      <p:sp>
        <p:nvSpPr>
          <p:cNvPr id="28" name="Oval 27"/>
          <p:cNvSpPr/>
          <p:nvPr/>
        </p:nvSpPr>
        <p:spPr>
          <a:xfrm>
            <a:off x="8019288" y="5458967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5440679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반출 / 반입 실행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진행률·취소 표시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반출 — 장비 파일을 내 PC로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장비 → 내 PC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port_files.png"/>
          <p:cNvPicPr>
            <a:picLocks noChangeAspect="1"/>
          </p:cNvPicPr>
          <p:nvPr/>
        </p:nvPicPr>
        <p:blipFill>
          <a:blip r:embed="rId2"/>
          <a:srcRect t="13968" r="50807" b="43410"/>
          <a:stretch>
            <a:fillRect/>
          </a:stretch>
        </p:blipFill>
        <p:spPr>
          <a:xfrm>
            <a:off x="502920" y="1508760"/>
            <a:ext cx="6293223" cy="384048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02920" y="5440680"/>
            <a:ext cx="3611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440680"/>
            <a:ext cx="73152" cy="123444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532120"/>
            <a:ext cx="33375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976D2"/>
                </a:solidFill>
                <a:latin typeface="맑은 고딕"/>
              </a:rPr>
              <a:t>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333756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① [반출 모드] · 장비 선택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② 오른쪽 목록에서 파일 클릭 (여러 개)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③ 저장 폴더 확인 → [⬇ 반출]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5440680"/>
            <a:ext cx="2788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5440680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5532120"/>
            <a:ext cx="2514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E7D32"/>
                </a:solidFill>
                <a:latin typeface="맑은 고딕"/>
              </a:rPr>
              <a:t>끝나면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897880"/>
            <a:ext cx="25146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[열기]로 저장 폴더 바로 열기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로그 창에 결과·속도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508760"/>
            <a:ext cx="43891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9480" y="1508760"/>
            <a:ext cx="73152" cy="512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1600200"/>
            <a:ext cx="41148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6B35"/>
                </a:solidFill>
                <a:latin typeface="맑은 고딕"/>
              </a:rPr>
              <a:t>알아두기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965960"/>
            <a:ext cx="4114800" cy="4617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볼 수 있는 곳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D 드라이브 · 바탕화면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212529"/>
              </a:solidFill>
              <a:latin typeface="맑은 고딕"/>
            </a:endParaRP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끊겨도 이어받기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다시 [반출]하면 받던 곳부터 계속 (.part)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212529"/>
              </a:solidFill>
              <a:latin typeface="맑은 고딕"/>
            </a:endParaRP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여러 파일 동시에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최대 4개씩 병렬로 빠르게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212529"/>
              </a:solidFill>
              <a:latin typeface="맑은 고딕"/>
            </a:endParaRP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편의 기능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오른쪽 클릭 메뉴 · Ctrl+A 전체 선택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Ctrl+휠로 아이콘 크기 조절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폴더 통째로 반출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반입 — 내 PC 파일을 장비로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내 PC → 장비 (오른쪽에 열린 장비 폴더로 보냅니다)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por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270135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1328709" y="2231843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556620" y="2312541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832622" y="3875143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099006" y="3735756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551566" y="4120904"/>
            <a:ext cx="329184" cy="32918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8019288" y="161848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00200"/>
            <a:ext cx="3456432" cy="6583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[⬆ 반입 모드]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모드 전환</a:t>
            </a:r>
          </a:p>
        </p:txBody>
      </p:sp>
      <p:sp>
        <p:nvSpPr>
          <p:cNvPr id="16" name="Oval 15"/>
          <p:cNvSpPr/>
          <p:nvPr/>
        </p:nvSpPr>
        <p:spPr>
          <a:xfrm>
            <a:off x="8019288" y="2276856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58568"/>
            <a:ext cx="3456432" cy="6583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보낼 폴더로 이동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오른쪽 목록에서 더블클릭</a:t>
            </a:r>
          </a:p>
        </p:txBody>
      </p:sp>
      <p:sp>
        <p:nvSpPr>
          <p:cNvPr id="18" name="Oval 17"/>
          <p:cNvSpPr/>
          <p:nvPr/>
        </p:nvSpPr>
        <p:spPr>
          <a:xfrm>
            <a:off x="8019288" y="293522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916936"/>
            <a:ext cx="3456432" cy="6583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파일·폴더 추가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버튼 또는 끌어다 놓기</a:t>
            </a:r>
          </a:p>
        </p:txBody>
      </p:sp>
      <p:sp>
        <p:nvSpPr>
          <p:cNvPr id="20" name="Oval 19"/>
          <p:cNvSpPr/>
          <p:nvPr/>
        </p:nvSpPr>
        <p:spPr>
          <a:xfrm>
            <a:off x="8019288" y="3593591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575304"/>
            <a:ext cx="3456432" cy="6583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보낼 항목 확인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잘못 넣었으면 [빼기]</a:t>
            </a:r>
          </a:p>
        </p:txBody>
      </p:sp>
      <p:sp>
        <p:nvSpPr>
          <p:cNvPr id="22" name="Oval 21"/>
          <p:cNvSpPr/>
          <p:nvPr/>
        </p:nvSpPr>
        <p:spPr>
          <a:xfrm>
            <a:off x="8019288" y="4251959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4233672"/>
            <a:ext cx="3456432" cy="6583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[⬆ 반입]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같은 이름 있으면 덮어쓰기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502920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⚠  장비 파일을 덮어쓰는 작업입니다.
레시피·파라미터 파일은 반입 전에
먼저 반출해서 백업해 두세요.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원격 — 장비 화면 보고 조작하기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장비 선택 → [🖥 원격] → 장비 화면이 새 창으로 열립니다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mot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406640" cy="4706476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Oval 8"/>
          <p:cNvSpPr/>
          <p:nvPr/>
        </p:nvSpPr>
        <p:spPr>
          <a:xfrm>
            <a:off x="601398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282709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014177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473957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2975536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3435316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4083188" y="1986054"/>
            <a:ext cx="237744" cy="237744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8202167" y="161848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600200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조작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끄면 보기만 (클릭·키 차단)</a:t>
            </a:r>
          </a:p>
        </p:txBody>
      </p:sp>
      <p:sp>
        <p:nvSpPr>
          <p:cNvPr id="18" name="Oval 17"/>
          <p:cNvSpPr/>
          <p:nvPr/>
        </p:nvSpPr>
        <p:spPr>
          <a:xfrm>
            <a:off x="8202167" y="2221992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203704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화면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모니터 여러 개면 선택</a:t>
            </a:r>
          </a:p>
        </p:txBody>
      </p:sp>
      <p:sp>
        <p:nvSpPr>
          <p:cNvPr id="20" name="Oval 19"/>
          <p:cNvSpPr/>
          <p:nvPr/>
        </p:nvSpPr>
        <p:spPr>
          <a:xfrm>
            <a:off x="8202167" y="2825496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807208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화질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낮음·보통·높음</a:t>
            </a:r>
          </a:p>
        </p:txBody>
      </p:sp>
      <p:sp>
        <p:nvSpPr>
          <p:cNvPr id="22" name="Oval 21"/>
          <p:cNvSpPr/>
          <p:nvPr/>
        </p:nvSpPr>
        <p:spPr>
          <a:xfrm>
            <a:off x="8202167" y="3429000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410712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실제 크기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1:1 픽셀로 또렷하게</a:t>
            </a:r>
          </a:p>
        </p:txBody>
      </p:sp>
      <p:sp>
        <p:nvSpPr>
          <p:cNvPr id="24" name="Oval 23"/>
          <p:cNvSpPr/>
          <p:nvPr/>
        </p:nvSpPr>
        <p:spPr>
          <a:xfrm>
            <a:off x="8202167" y="4032504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4014216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키 보내기 ▾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Alt+Tab · Win 등</a:t>
            </a:r>
          </a:p>
        </p:txBody>
      </p:sp>
      <p:sp>
        <p:nvSpPr>
          <p:cNvPr id="26" name="Oval 25"/>
          <p:cNvSpPr/>
          <p:nvPr/>
        </p:nvSpPr>
        <p:spPr>
          <a:xfrm>
            <a:off x="8202167" y="4636008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4617720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전체 화면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다시 누르면 창 모드</a:t>
            </a:r>
          </a:p>
        </p:txBody>
      </p:sp>
      <p:sp>
        <p:nvSpPr>
          <p:cNvPr id="28" name="Oval 27"/>
          <p:cNvSpPr/>
          <p:nvPr/>
        </p:nvSpPr>
        <p:spPr>
          <a:xfrm>
            <a:off x="8202167" y="5239512"/>
            <a:ext cx="292608" cy="292608"/>
          </a:xfrm>
          <a:prstGeom prst="ellipse">
            <a:avLst/>
          </a:prstGeom>
          <a:solidFill>
            <a:srgbClr val="C937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5221224"/>
            <a:ext cx="3273552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529"/>
                </a:solidFill>
                <a:latin typeface="맑은 고딕"/>
              </a:rPr>
              <a:t>상태</a:t>
            </a:r>
            <a:r>
              <a:rPr sz="1150" b="0">
                <a:solidFill>
                  <a:srgbClr val="5F6B7A"/>
                </a:solidFill>
                <a:latin typeface="맑은 고딕"/>
              </a:rPr>
              <a:t>  fps · 전송량 · 지연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263640"/>
            <a:ext cx="7406640" cy="4114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12529"/>
                </a:solidFill>
                <a:latin typeface="맑은 고딕"/>
              </a:rPr>
              <a:t>마우스·키보드는 그대로 장비로 전달됩니다 — 내 PC에서 작업하듯 클릭·입력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원격 편의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v2.12 에서 추가된 기능들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224028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291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976D2"/>
                </a:solidFill>
                <a:latin typeface="맑은 고딕"/>
              </a:rPr>
              <a:t>복사 · 붙여넣기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9184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내 PC 복사 글자 → 원격 창에서 Ctrl+V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장비에서 Ctrl+C 한 글자 → 내 PC로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글자만 (파일은 반입/반출)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002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600200"/>
            <a:ext cx="73152" cy="2240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691640"/>
            <a:ext cx="3291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35"/>
                </a:solidFill>
                <a:latin typeface="맑은 고딕"/>
              </a:rPr>
              <a:t>키 보내기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57400"/>
            <a:ext cx="329184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Alt+Tab · Win · Alt+F4 · 작업 관리자 등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내 PC가 가로채는 키를 장비로 전송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Ctrl+Alt+Del 은 보낼 수 없음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6002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600200"/>
            <a:ext cx="73152" cy="2240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9" y="1691640"/>
            <a:ext cx="3291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7D32"/>
                </a:solidFill>
                <a:latin typeface="맑은 고딕"/>
              </a:rPr>
              <a:t>실제 크기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057400"/>
            <a:ext cx="329184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장비 화면을 줄이지 않고 1:1 로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작은 글씨·숫자 확인할 때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창보다 크면 스크롤로 이동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73152" cy="224028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976D2"/>
                </a:solidFill>
                <a:latin typeface="맑은 고딕"/>
              </a:rPr>
              <a:t>전체 화면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329184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원격 창을 모니터 가득히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다시 누르면 창 모드로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402336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79" y="4023360"/>
            <a:ext cx="73152" cy="2240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59" y="4114800"/>
            <a:ext cx="3291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35"/>
                </a:solidFill>
                <a:latin typeface="맑은 고딕"/>
              </a:rPr>
              <a:t>빠르고 가볍게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480560"/>
            <a:ext cx="329184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바뀐 부분만 보내 장비 부담 최소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화면 전환 땐 거친 화면 먼저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→ 곧바로 선명하게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402336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19" y="4023360"/>
            <a:ext cx="73152" cy="2240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9" y="4114800"/>
            <a:ext cx="32918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7D32"/>
                </a:solidFill>
                <a:latin typeface="맑은 고딕"/>
              </a:rPr>
              <a:t>자동 재연결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4480560"/>
            <a:ext cx="329184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잠깐 끊겨도 저절로 다시 연결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12529"/>
                </a:solidFill>
                <a:latin typeface="맑은 고딕"/>
              </a:rPr>
              <a:t>창 크기에 맞춰 자동 확대·축소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반입/반출 · 원격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안전장치와 사용 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공정 장비를 다루는 기능입니다 — 꼭 읽어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3657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2120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Aurora가 알아서 지키는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212080" cy="3154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[조작] 끄면 보기 전용 — 클릭·키 입력이 장비로 가지 않음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연결이 끊기면 3초 뒤 눌려 있던 키·버튼 자동 해제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화면이 2.5초 넘게 멈추면 조작 잠금 (옛 화면 보고 클릭 방지)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1초 넘게 늦게 도착한 클릭·키는 버림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같은 입력을 두 번 보내지 않음 (중복 클릭 방지)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장비 부담 상한 — CPU 한 코어의 1/5 이하, 낮은 우선순위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✔  장비별 원격 차단 가능 (remote_enabled = false)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3492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73152" cy="3657600"/>
          </a:xfrm>
          <a:prstGeom prst="rect">
            <a:avLst/>
          </a:prstGeom>
          <a:solidFill>
            <a:srgbClr val="C9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0749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372C"/>
                </a:solidFill>
                <a:latin typeface="맑은 고딕"/>
              </a:rPr>
              <a:t>사용자가 지킬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074920" cy="3154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①  조작 전에 현장 작업자에게 먼저 알리기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②  확인만 할 때는 [조작] 체크 해제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③  START / STOP 등 운전 버튼은 현장 확인 후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④  반입 전 원본 반출(백업)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⑤  작업 끝나면 원격 창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💡  원격 창이 떠 있어도 장비 현장의 마우스·키보드는 그대로 동작합니다. 현장과 동시에 조작하면 서로 방해되니 꼭 소통 후 사용하세요.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프로그램 업데이트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Update 폴더에 넣어 두면 서버·클라이언트가 스스로 교체합니다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b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3642403" cy="512064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1210466" y="4619816"/>
            <a:ext cx="1005840" cy="36576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93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7178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40"/>
            <a:ext cx="69037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자동 업데이트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6903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켜질 때 D:\RemoteConfig\Update 폴더를 확인 → 새 버전이면 스스로 교체·재시작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지금 바로: 클라이언트는 설정 탭 버전 줄, 서버는 화면 오른쪽 위 [최신 버전 확인]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383280"/>
            <a:ext cx="7178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3383280"/>
            <a:ext cx="73152" cy="14630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3474720"/>
            <a:ext cx="69037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6B35"/>
                </a:solidFill>
                <a:latin typeface="맑은 고딕"/>
              </a:rPr>
              <a:t>새 버전 넣기 (관리자)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840480"/>
            <a:ext cx="690372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AuroraClient.exe · AuroraServer.exe · version.json 을 Update 폴더에 복사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여러 PC는 서버의 단일 배포 뷰로 Update 폴더 파일을 한 번에 복사 (같은 경로로 들어감)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5029200"/>
            <a:ext cx="7178040" cy="15544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v2.12.0 → v2.12.1 로 넘어갈 때 한 번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'Failed to load Python DLL' 창이 뜰 수 있습니다 → [확인] 후 Aurora를 다시 실행하면 정상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(v2.12.1 에서 원인 수정 — 이후 업데이트부터는 뜨지 않음)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문제 해결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문제가 생기면 — 서버 ·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연결 · 실행 · 배포 관련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클라이언트가 ○ 오프라인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클라이언트 실행 여부 · 서버에 등록한 IP · 클라이언트의 서버 IP 목록 · 서버 방화벽 9000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39696"/>
            <a:ext cx="11064240" cy="530352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139696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139696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실행해도 Aurora가 안 켜짐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39696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● 온라인인지 · 클라이언트 실행 경로 · 클라이언트 LOG의 '파일 없음'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2491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724912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724912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서버 LOG에 '전달 실패'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24912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클라이언트 방화벽 9001 · 클라이언트 실행 여부 · 포트 번호 일치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10128"/>
            <a:ext cx="11064240" cy="530352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310128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310128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포트를 바꾼 뒤 통신 안 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10128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서버·클라이언트 모두 재시작 · 새 포트 방화벽 허용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95344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895344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895344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'이미 실행 중' 팝업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95344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트레이에 이미 떠 있음 → 트레이 아이콘 더블클릭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59"/>
            <a:ext cx="11064240" cy="530352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480559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480559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배포 실패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480559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클라이언트 D: 가 'D' 이름으로 공유됐는지 · 계정/비밀번호 · 방화벽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65775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065775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065775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배포 후 경로가 안 바뀜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065775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배포 끝날 때 오프라인이었음 → 서버 뷰 [전체 경로 적용]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650991"/>
            <a:ext cx="11064240" cy="530352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5650991"/>
            <a:ext cx="73152" cy="53035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650991"/>
            <a:ext cx="356616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A3A"/>
                </a:solidFill>
                <a:latin typeface="맑은 고딕"/>
              </a:rPr>
              <a:t>핑이 안 보임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650991"/>
            <a:ext cx="71323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Manual이면 [전체 핑] 클릭 · 방화벽에서 ping(ICMP) 허용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327647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같은 PC인데 IP 하나만 온라인이면 정상입니다 (한 PC의 여러 IP를 함께 인식)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문제 해결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문제가 생기면 — 반입/반출 · 원격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대부분 아래에서 해결됩니다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중계 PC 연결 안 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00200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중계 IP 확인 → [적용] 다시 · 그 장비에서 Aurora 실행 중인지 · 포트 9001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106424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221992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221992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장비가 목록에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21992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[장비 검색] · 서버에 등록된 장비인지 · 장비 Aurora 실행 중인지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43784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843784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843784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'원격 미지원'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43784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대상 장비가 v2.11 미만 → 업데이트 후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65576"/>
            <a:ext cx="1106424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465576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465576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원격에 '조작 잠금'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65576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화면이 2.5초 넘게 멈춤 → 자동 재연결 대기 · 장비 잠금화면/UAC는 현장에서 해제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8736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087368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087368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원격 화면이 느림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087368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[화질] 낮추기 · [실제 크기] 끄기 · 다른 원격 창 닫기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09160"/>
            <a:ext cx="1106424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709160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반출이 중간에 끊김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09160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그대로 다시 [반출] — 받던 곳부터 이어받음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30952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330952"/>
            <a:ext cx="73152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330952"/>
            <a:ext cx="32918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A3A"/>
                </a:solidFill>
                <a:latin typeface="맑은 고딕"/>
              </a:rPr>
              <a:t>Failed to load Python DLL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330952"/>
            <a:ext cx="740664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529"/>
                </a:solidFill>
                <a:latin typeface="맑은 고딕"/>
              </a:rPr>
              <a:t>업데이트 직후 한 번 뜰 수 있음 → [확인] 후 다시 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062472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그래도 안 되면 반입/반출 LOG 창 내용을 캡처해서 담당자에게 보내 주세요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0" y="73152"/>
            <a:ext cx="32918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9AA4B0"/>
                </a:solidFill>
                <a:latin typeface="맑은 고딕"/>
              </a:rPr>
              <a:t>참고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10058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A3A"/>
                </a:solidFill>
                <a:latin typeface="맑은 고딕"/>
              </a:rPr>
              <a:t>참고 — 포트 · 설정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896112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6B7A"/>
                </a:solidFill>
                <a:latin typeface="맑은 고딕"/>
              </a:rPr>
              <a:t>대부분 화면에서 바꾸면 자동 저장 · 직접 고칠 일이 거의 없는 항목만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228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4206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274320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9319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A3A"/>
                </a:solidFill>
                <a:latin typeface="맑은 고딕"/>
              </a:rPr>
              <a:t>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931920" cy="2240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9000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서버 — 상태 보고 받음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9001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클라이언트 — 명령 · 반입/반출 · 원격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19700 / 19701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중복 실행 방지 (방화벽 불필요)</a:t>
            </a:r>
          </a:p>
          <a:p>
            <a:pPr algn="l">
              <a:lnSpc>
                <a:spcPct val="120000"/>
              </a:lnSpc>
            </a:pPr>
            <a:endParaRPr sz="1200" b="0">
              <a:solidFill>
                <a:srgbClr val="212529"/>
              </a:solidFill>
              <a:latin typeface="맑은 고딕"/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529"/>
                </a:solidFill>
                <a:latin typeface="맑은 고딕"/>
              </a:rPr>
              <a:t>서버의 클라이언트 포트 = 클라이언트 수신 포트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00200"/>
            <a:ext cx="6675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1600200"/>
            <a:ext cx="73152" cy="18288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691640"/>
            <a:ext cx="64008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76D2"/>
                </a:solidFill>
                <a:latin typeface="맑은 고딕"/>
              </a:rPr>
              <a:t>server_config.json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57400"/>
            <a:ext cx="6400800" cy="1325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deploy_user / deploy_pw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배포 뷰 공유 폴더 접속 계정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deploy_client_creds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단일 배포용 PC별 계정 (표의 ID/PW)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client_names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표에 보이는 PC 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566160"/>
            <a:ext cx="667512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3566160"/>
            <a:ext cx="73152" cy="2697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3657600"/>
            <a:ext cx="64008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맑은 고딕"/>
              </a:rPr>
              <a:t>client_config.json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023360"/>
            <a:ext cx="6400800" cy="2194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server_ips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보고할 서버 IP   </a:t>
            </a:r>
            <a:r>
              <a:rPr sz="1200" b="1">
                <a:solidFill>
                  <a:srgbClr val="212529"/>
                </a:solidFill>
                <a:latin typeface="맑은 고딕"/>
              </a:rPr>
              <a:t>aurora_path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실행 경로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export_key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반입/반출 공유 키 — 모든 PC 같은 값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export_relay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중계 PC IP (기본 192.168.110.152)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export_save_dir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반출 저장 폴더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remote_enabled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false 면 이 PC 원격 거부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12529"/>
                </a:solidFill>
                <a:latin typeface="맑은 고딕"/>
              </a:rPr>
              <a:t>remote_quality</a:t>
            </a:r>
            <a:r>
              <a:rPr sz="1200" b="0">
                <a:solidFill>
                  <a:srgbClr val="212529"/>
                </a:solidFill>
                <a:latin typeface="맑은 고딕"/>
              </a:rPr>
              <a:t>  원격 화질 (낮음·보통·높음)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4206240" cy="173736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529"/>
                </a:solidFill>
                <a:latin typeface="맑은 고딕"/>
              </a:rPr>
              <a:t>⚠  설정 파일에는 계정 비밀번호가 들어 있습니다.
외부로 공유하지 마세요.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2794</Words>
  <Application>Microsoft Office PowerPoint</Application>
  <PresentationFormat>와이드스크린</PresentationFormat>
  <Paragraphs>520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최민영</cp:lastModifiedBy>
  <cp:revision>11</cp:revision>
  <dcterms:created xsi:type="dcterms:W3CDTF">2013-01-27T09:14:16Z</dcterms:created>
  <dcterms:modified xsi:type="dcterms:W3CDTF">2026-10-01T06:57:32Z</dcterms:modified>
  <cp:category/>
</cp:coreProperties>
</file>