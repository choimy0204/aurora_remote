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2" y="132080"/>
            <a:ext cx="3698240" cy="359410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2227072"/>
            <a:ext cx="2743200" cy="2743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Aurora Remote Control</a:t>
            </a:r>
            <a:r>
              <a:rPr lang="en-US" sz="3800" b="1" dirty="0">
                <a:solidFill>
                  <a:schemeClr val="bg1">
                    <a:lumMod val="75000"/>
                  </a:schemeClr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ler</a:t>
            </a:r>
            <a:endParaRPr lang="en-US" sz="3800" dirty="0">
              <a:solidFill>
                <a:schemeClr val="bg1">
                  <a:lumMod val="75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사용 매뉴얼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8909C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LAN 환경 원격 실행 제어 시스템   |  2026-06-13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2004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2062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모니터링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68880" y="42062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원격 제어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42062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파일 배포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420624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핑 체크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116A55F-B8DB-49E4-9F5D-2C5C93BABE59}"/>
              </a:ext>
            </a:extLst>
          </p:cNvPr>
          <p:cNvSpPr/>
          <p:nvPr/>
        </p:nvSpPr>
        <p:spPr>
          <a:xfrm>
            <a:off x="548640" y="34838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600" dirty="0">
                <a:solidFill>
                  <a:srgbClr val="78909C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유비샘 최민영 대리</a:t>
            </a:r>
            <a:endParaRPr lang="en-US" sz="16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INDEX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목차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90472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01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0976" y="1453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시스템 개요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0976" y="1673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구성 및 통신 구조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57400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02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50976" y="20208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설치 및 실행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50976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패키지 설치 · 최초 실행 순서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624328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03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50976" y="2587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프로그램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0976" y="28072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뷰 · 핑 모드 · 클라이언트 관리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11810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91256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04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0976" y="3154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명령 흐름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50976" y="3374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시작/정지 명령이 전달되는 과정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758184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05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0976" y="37216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흐름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50976" y="3941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파일이 클라이언트에 배포되는 과정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325112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06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50976" y="4288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명령 처리 흐름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50976" y="45079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 수신 신호별 처리 플로우차트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46320" y="141732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1490472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07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340096" y="1453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뷰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340096" y="1673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폴더 단위 배포 · 순차 진행 · 내부 경로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46320" y="198424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2057400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08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340096" y="20208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단일 배포 뷰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340096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파일 단위 배포 · 자동 백업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846320" y="255117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937760" y="2624328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09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340096" y="2587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340096" y="28072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설정 패널 · 수동 제어 · 핑 상태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846320" y="311810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937760" y="3191256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10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340096" y="31546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핑 기능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340096" y="3374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Manual / Auto 모드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846320" y="368503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937760" y="3758184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11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340096" y="37216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설정 · 방화벽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340096" y="39410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JSON 설정 파일 · 포트 · 방화벽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846320" y="425196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937760" y="4325112"/>
            <a:ext cx="310896" cy="31089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12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340096" y="4288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문제 해결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340096" y="45079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자주 발생하는 문제 및 해결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01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시스템 개요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64592" cy="10058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AuroraServer.exe</a:t>
            </a:r>
            <a:endParaRPr lang="en-US" sz="14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1847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명령 발행 · 클라이언트 모니터링 · 파일 배포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164592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AuroraClient.exe</a:t>
            </a:r>
            <a:endParaRPr lang="en-US" sz="14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" y="3035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명령 수신 · Aurora.exe 실행/종료 · 상태 보고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통신 구조</a:t>
            </a:r>
            <a:endParaRPr lang="en-US" sz="14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011680"/>
            <a:ext cx="109728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048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  ──────→  서버 :9000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28032" y="2322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3초마다 상태 보고 (POST /status)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880360"/>
            <a:ext cx="109728" cy="74980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916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 ──────→  클라이언트 :9001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28032" y="3191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버튼 클릭 시 명령 Push (POST /command)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374904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749040"/>
            <a:ext cx="109728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785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 ──────→  \\IP\D$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28032" y="40599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시 직접 파일 복사 (UNC 공유)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" y="3831336"/>
            <a:ext cx="4315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● 10초 이상 응답 없으면 자동 </a:t>
            </a:r>
            <a:r>
              <a:rPr lang="en-US" sz="1000" dirty="0" err="1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오프라인</a:t>
            </a: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 </a:t>
            </a:r>
          </a:p>
          <a:p>
            <a:pPr marL="0" indent="0" algn="l">
              <a:buNone/>
            </a:pPr>
            <a:endParaRPr lang="en-US" sz="1000" dirty="0">
              <a:solidFill>
                <a:srgbClr val="546E7A"/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● 같은 PC에 여러 IP가 있어도 모두 자동 인식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02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설치 및 실행 순서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패키지 설치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347472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6537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pip install requests psutil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  pystray pillow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EXE 빌드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847088"/>
            <a:ext cx="3931920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6537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build.bat 실행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→ dist\AuroraServer.exe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→ dist\AuroraClient.exe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최초 실행 순서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4672" y="33101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 PC에서 AuroraClient.exe 실행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675888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75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" y="36393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설정 패널에서 서버 IP · 포트 · Aurora 경로 입력 후 적용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05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3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672" y="396849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PC에서 AuroraServer.exe 실행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4334256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34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4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04672" y="42976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뷰 → + 추가 버튼으로 클라이언트 IP 등록 (최초 1회)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5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4672" y="462686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 상태가 ● 온라인으로 바뀌면 명령 발행 가능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76171" y="4626864"/>
            <a:ext cx="34261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35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⚠  클라이언트를 서버보다 먼저 실행해야 합니다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03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서버 프로그램 — 서버 뷰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691640" cy="2743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뷰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0" y="1298448"/>
            <a:ext cx="1691640" cy="27432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298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뷰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0" y="1298448"/>
            <a:ext cx="1691640" cy="274320"/>
          </a:xfrm>
          <a:prstGeom prst="rect">
            <a:avLst/>
          </a:prstGeom>
          <a:solidFill>
            <a:srgbClr val="E8EAF6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2984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단일 배포 뷰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746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전체 제어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" y="2020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▶ 전체 실행 — 온라인 클라이언트 전체 Aurora 실행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■ 전체 종료 — 온라인 클라이언트 전체 Aurora 종료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402336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2825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포트 설정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" y="3099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서버 포트 9000 — 클라이언트 상태 보고 수신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8368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클라이언트 포트 9001 — 명령 수신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368" y="3721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변경 후 적용 → 재시작 필요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" y="4215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버전명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" y="4489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서버 뷰 입력값이 배포 뷰와 공유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전체 경로 적용 — 온라인 클라이언트 경로 일괄 변경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63440" y="169164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 모니터링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46320" y="2103120"/>
            <a:ext cx="914400" cy="2560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103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항목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52160" y="2103120"/>
            <a:ext cx="822960" cy="2560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103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표시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83680" y="2103120"/>
            <a:ext cx="2103120" cy="2560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의미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0" y="2395728"/>
            <a:ext cx="91440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2395728"/>
            <a:ext cx="82296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2395728"/>
            <a:ext cx="210312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4231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연결 상태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925312" y="24185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● 온라인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601968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최근 10초 내 응답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846320" y="2724912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0" y="2724912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0" y="2724912"/>
            <a:ext cx="2103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275234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연결 상태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97880" y="27523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○ 오프라인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01968" y="2752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10초 이상 무응답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846320" y="3054096"/>
            <a:ext cx="91440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0" y="3054096"/>
            <a:ext cx="82296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3054096"/>
            <a:ext cx="210312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081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08298" y="30769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● 실행중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601968" y="3081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프로세스 실행 중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846320" y="3383280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52160" y="3383280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83680" y="3383280"/>
            <a:ext cx="2103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34107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914076" y="3410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62828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○ 중지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601968" y="3410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Aurora.exe 없음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846320" y="3712464"/>
            <a:ext cx="91440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52160" y="3712464"/>
            <a:ext cx="82296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83680" y="3712464"/>
            <a:ext cx="210312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4608" y="373989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핑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021324" y="373143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565C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Nms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601968" y="3739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&lt;10ms 녹 / &lt;50ms 노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846320" y="4041648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52160" y="4041648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83680" y="4041648"/>
            <a:ext cx="21031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64608" y="40690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핑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926540" y="40645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62828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시간초과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601968" y="4069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응답 없음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4846320" y="4370832"/>
            <a:ext cx="91440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52160" y="4370832"/>
            <a:ext cx="82296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83680" y="4370832"/>
            <a:ext cx="2103120" cy="301752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64608" y="43982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마지막 응답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5999647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N초 전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6601968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마지막 상태 보고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04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명령 흐름 — 시작 / 정지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60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▶  시작 명령 (start)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081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👤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사용자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▶ 전체 실행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버튼 클릭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48506" y="1869698"/>
            <a:ext cx="257534" cy="0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3716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4081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🖥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06040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GUI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06040" y="1975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온라인 클라이언트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목록 조회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26280" y="1869698"/>
            <a:ext cx="228600" cy="4822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3716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4081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💻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4880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54880" y="1975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POST /command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{ "start" }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75120" y="1819656"/>
            <a:ext cx="228600" cy="0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3716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4081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🚀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03720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Aurora.exe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03720" y="19751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프로세스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실행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363724" y="2234497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버튼 클릭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498848" y="232652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:9001 포트 전송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61404" y="2322575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start 명령 수신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2532889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← 3초 후 상태 보고 (POST /status :9000) — 서버 화면에 ● 실행중 표시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3118104"/>
            <a:ext cx="8321040" cy="0"/>
          </a:xfrm>
          <a:prstGeom prst="line">
            <a:avLst/>
          </a:prstGeom>
          <a:noFill/>
          <a:ln w="19050">
            <a:solidFill>
              <a:srgbClr val="DDE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90107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62828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■  정지 명령 (stop)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3255264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291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👤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사용자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■ 전체 종료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버튼 클릭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377440" y="3703320"/>
            <a:ext cx="228600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3255264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6040" y="3291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🖥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60604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GUI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60604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온라인 클라이언트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목록 조회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26280" y="3703320"/>
            <a:ext cx="228600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255264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291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💻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75488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75488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POST /command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{ "stop" }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75120" y="3703320"/>
            <a:ext cx="256032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03720" y="3255264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3291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⛔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903720" y="3584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Aurora.exe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903720" y="3858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프로세스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강제 종료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2348506" y="42108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버튼 클릭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512564" y="42108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:9001 포트 전송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6672936" y="4225153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62828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stop 명령 수신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02920" y="460400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2828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← 3초 후 상태 보고 (POST /status :9000) — 서버 화면에 ○ 중지 표시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05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배포 흐름 — 파일이 클라이언트에 전달되는 과정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CA36AD9-3AD1-CB52-8534-2CD5A97673E5}"/>
              </a:ext>
            </a:extLst>
          </p:cNvPr>
          <p:cNvGrpSpPr/>
          <p:nvPr/>
        </p:nvGrpSpPr>
        <p:grpSpPr>
          <a:xfrm>
            <a:off x="457200" y="1219708"/>
            <a:ext cx="4754880" cy="777240"/>
            <a:chOff x="457200" y="1219708"/>
            <a:chExt cx="4754880" cy="777240"/>
          </a:xfrm>
        </p:grpSpPr>
        <p:sp>
          <p:nvSpPr>
            <p:cNvPr id="5" name="Shape 3"/>
            <p:cNvSpPr/>
            <p:nvPr/>
          </p:nvSpPr>
          <p:spPr>
            <a:xfrm>
              <a:off x="457200" y="1219708"/>
              <a:ext cx="4754880" cy="777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EEF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" name="Shape 4"/>
            <p:cNvSpPr/>
            <p:nvPr/>
          </p:nvSpPr>
          <p:spPr>
            <a:xfrm>
              <a:off x="457200" y="1219708"/>
              <a:ext cx="128016" cy="777240"/>
            </a:xfrm>
            <a:prstGeom prst="rect">
              <a:avLst/>
            </a:prstGeom>
            <a:solidFill>
              <a:srgbClr val="1976D2"/>
            </a:solidFill>
            <a:ln w="12700">
              <a:solidFill>
                <a:srgbClr val="1976D2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658368" y="1311148"/>
              <a:ext cx="329184" cy="329184"/>
            </a:xfrm>
            <a:prstGeom prst="ellipse">
              <a:avLst/>
            </a:prstGeom>
            <a:solidFill>
              <a:srgbClr val="1976D2"/>
            </a:solidFill>
            <a:ln w="12700">
              <a:solidFill>
                <a:srgbClr val="1976D2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58368" y="1311148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1</a:t>
              </a:r>
              <a:endParaRPr lang="en-US" sz="12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1078992" y="1311148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976D2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소스 폴더 &amp; 버전 설정</a:t>
              </a:r>
              <a:endParaRPr lang="en-US" sz="12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078992" y="1603756"/>
              <a:ext cx="402336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12121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소스 폴더 선택 · 내부 경로 입력</a:t>
              </a:r>
              <a:endParaRPr lang="en-US" sz="10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212121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배포 버전명 입력 후 클라이언트 체크</a:t>
              </a:r>
              <a:endParaRPr lang="en-US" sz="10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6397148-69A9-209B-652D-75A6BF9AD5F1}"/>
              </a:ext>
            </a:extLst>
          </p:cNvPr>
          <p:cNvGrpSpPr/>
          <p:nvPr/>
        </p:nvGrpSpPr>
        <p:grpSpPr>
          <a:xfrm>
            <a:off x="457200" y="2063750"/>
            <a:ext cx="4754880" cy="777240"/>
            <a:chOff x="457200" y="2272284"/>
            <a:chExt cx="4754880" cy="777240"/>
          </a:xfrm>
        </p:grpSpPr>
        <p:sp>
          <p:nvSpPr>
            <p:cNvPr id="13" name="Shape 11"/>
            <p:cNvSpPr/>
            <p:nvPr/>
          </p:nvSpPr>
          <p:spPr>
            <a:xfrm>
              <a:off x="457200" y="2272284"/>
              <a:ext cx="4754880" cy="777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EEF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4" name="Shape 12"/>
            <p:cNvSpPr/>
            <p:nvPr/>
          </p:nvSpPr>
          <p:spPr>
            <a:xfrm>
              <a:off x="457200" y="2272284"/>
              <a:ext cx="128016" cy="777240"/>
            </a:xfrm>
            <a:prstGeom prst="rect">
              <a:avLst/>
            </a:prstGeom>
            <a:solidFill>
              <a:srgbClr val="7B1FA2"/>
            </a:solidFill>
            <a:ln w="12700">
              <a:solidFill>
                <a:srgbClr val="7B1FA2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658368" y="2363724"/>
              <a:ext cx="329184" cy="329184"/>
            </a:xfrm>
            <a:prstGeom prst="ellipse">
              <a:avLst/>
            </a:prstGeom>
            <a:solidFill>
              <a:srgbClr val="7B1FA2"/>
            </a:solidFill>
            <a:ln w="12700">
              <a:solidFill>
                <a:srgbClr val="7B1FA2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58368" y="2363724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2</a:t>
              </a:r>
              <a:endParaRPr lang="en-US" sz="12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1078992" y="2363724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7B1FA2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관리자 공유 경로 접근</a:t>
              </a:r>
              <a:endParaRPr lang="en-US" sz="12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078992" y="2656332"/>
              <a:ext cx="402336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12121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서버가 \\IP\D$ 로 직접 연결</a:t>
              </a:r>
              <a:endParaRPr lang="en-US" sz="10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212121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계정 인증 · 클라이언트 HTTP 통신 불필요</a:t>
              </a:r>
              <a:endParaRPr lang="en-US" sz="10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A94E34F-7826-5445-1EF2-3151B2B3495D}"/>
              </a:ext>
            </a:extLst>
          </p:cNvPr>
          <p:cNvGrpSpPr/>
          <p:nvPr/>
        </p:nvGrpSpPr>
        <p:grpSpPr>
          <a:xfrm>
            <a:off x="457200" y="2907792"/>
            <a:ext cx="4754880" cy="777240"/>
            <a:chOff x="457200" y="3332988"/>
            <a:chExt cx="4754880" cy="777240"/>
          </a:xfrm>
        </p:grpSpPr>
        <p:sp>
          <p:nvSpPr>
            <p:cNvPr id="21" name="Shape 19"/>
            <p:cNvSpPr/>
            <p:nvPr/>
          </p:nvSpPr>
          <p:spPr>
            <a:xfrm>
              <a:off x="457200" y="3332988"/>
              <a:ext cx="4754880" cy="777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EEF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457200" y="3332988"/>
              <a:ext cx="128016" cy="777240"/>
            </a:xfrm>
            <a:prstGeom prst="rect">
              <a:avLst/>
            </a:prstGeom>
            <a:solidFill>
              <a:srgbClr val="FF6B35"/>
            </a:solidFill>
            <a:ln w="12700">
              <a:solidFill>
                <a:srgbClr val="FF6B35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658368" y="3424428"/>
              <a:ext cx="329184" cy="329184"/>
            </a:xfrm>
            <a:prstGeom prst="ellipse">
              <a:avLst/>
            </a:prstGeom>
            <a:solidFill>
              <a:srgbClr val="FF6B35"/>
            </a:solidFill>
            <a:ln w="12700">
              <a:solidFill>
                <a:srgbClr val="FF6B3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58368" y="3424428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3</a:t>
              </a:r>
              <a:endParaRPr lang="en-US" sz="12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1078992" y="3424428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6B35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파일 복사</a:t>
              </a:r>
              <a:endParaRPr lang="en-US" sz="12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078992" y="3717036"/>
              <a:ext cx="402336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12121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소스 폴더 → 클라이언트 대상 폴더 (Aurora_EXE_버전명)</a:t>
              </a:r>
              <a:endParaRPr lang="en-US" sz="10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212121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1대씩 순차 처리 · 행별 진행률 표시</a:t>
              </a:r>
              <a:endParaRPr lang="en-US" sz="10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95EE60D-EB0B-D65F-B525-CCD1F3B8DFA0}"/>
              </a:ext>
            </a:extLst>
          </p:cNvPr>
          <p:cNvGrpSpPr/>
          <p:nvPr/>
        </p:nvGrpSpPr>
        <p:grpSpPr>
          <a:xfrm>
            <a:off x="457200" y="3783076"/>
            <a:ext cx="4754880" cy="777240"/>
            <a:chOff x="457200" y="4393692"/>
            <a:chExt cx="4754880" cy="777240"/>
          </a:xfrm>
        </p:grpSpPr>
        <p:sp>
          <p:nvSpPr>
            <p:cNvPr id="29" name="Shape 27"/>
            <p:cNvSpPr/>
            <p:nvPr/>
          </p:nvSpPr>
          <p:spPr>
            <a:xfrm>
              <a:off x="457200" y="4393692"/>
              <a:ext cx="4754880" cy="777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EEF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0" name="Shape 28"/>
            <p:cNvSpPr/>
            <p:nvPr/>
          </p:nvSpPr>
          <p:spPr>
            <a:xfrm>
              <a:off x="457200" y="4393692"/>
              <a:ext cx="128016" cy="777240"/>
            </a:xfrm>
            <a:prstGeom prst="rect">
              <a:avLst/>
            </a:prstGeom>
            <a:solidFill>
              <a:srgbClr val="2E7D32"/>
            </a:solidFill>
            <a:ln w="12700">
              <a:solidFill>
                <a:srgbClr val="2E7D32"/>
              </a:solidFill>
              <a:prstDash val="solid"/>
            </a:ln>
          </p:spPr>
        </p:sp>
        <p:sp>
          <p:nvSpPr>
            <p:cNvPr id="31" name="Shape 29"/>
            <p:cNvSpPr/>
            <p:nvPr/>
          </p:nvSpPr>
          <p:spPr>
            <a:xfrm>
              <a:off x="658368" y="4485132"/>
              <a:ext cx="329184" cy="329184"/>
            </a:xfrm>
            <a:prstGeom prst="ellipse">
              <a:avLst/>
            </a:prstGeom>
            <a:solidFill>
              <a:srgbClr val="2E7D32"/>
            </a:solidFill>
            <a:ln w="12700">
              <a:solidFill>
                <a:srgbClr val="2E7D32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658368" y="4485132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4</a:t>
              </a:r>
              <a:endParaRPr lang="en-US" sz="12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1078992" y="4485132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E7D32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경로 갱신 명령 전송</a:t>
              </a:r>
              <a:endParaRPr lang="en-US" sz="12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78992" y="4777740"/>
              <a:ext cx="4023360" cy="3017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212121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배포 완료 후 setpath 명령 자동 전송</a:t>
              </a:r>
              <a:endParaRPr lang="en-US" sz="10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212121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클라이언트가 Aurora 경로 + 레지스트리 업데이트</a:t>
              </a:r>
              <a:endParaRPr lang="en-US" sz="10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</p:grpSp>
      <p:sp>
        <p:nvSpPr>
          <p:cNvPr id="35" name="Shape 33"/>
          <p:cNvSpPr/>
          <p:nvPr/>
        </p:nvSpPr>
        <p:spPr>
          <a:xfrm>
            <a:off x="5394960" y="1353312"/>
            <a:ext cx="3383280" cy="3694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0" y="1444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흐름 요약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086600" y="2404872"/>
            <a:ext cx="0" cy="50292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4323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6B35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① \\IP\D$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800" b="1" dirty="0">
                <a:solidFill>
                  <a:srgbClr val="FF6B35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관리자 공유 복사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086600" y="3529584"/>
            <a:ext cx="0" cy="502920"/>
          </a:xfrm>
          <a:prstGeom prst="line">
            <a:avLst/>
          </a:prstGeom>
          <a:noFill/>
          <a:ln w="3175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3560" y="35478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② setpath 명령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8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경로+레지스트리 갱신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623560" y="4005072"/>
            <a:ext cx="2926080" cy="621792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00507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🚀  Aurora.exe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086600" y="405993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새 경로에서 자동 재시작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C8E6C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레지스트리 부팅 경로 갱신</a:t>
            </a:r>
            <a:endParaRPr lang="en-US" sz="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57200" y="4704588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⚠  배포 전 클라이언트가 온라인 상태여야 setpath 명령이 전달됩니다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C63DFC2-B7CC-CAD2-AD48-A58AC40DA57A}"/>
              </a:ext>
            </a:extLst>
          </p:cNvPr>
          <p:cNvGrpSpPr/>
          <p:nvPr/>
        </p:nvGrpSpPr>
        <p:grpSpPr>
          <a:xfrm>
            <a:off x="5623560" y="2907792"/>
            <a:ext cx="2926080" cy="621792"/>
            <a:chOff x="5623560" y="2907792"/>
            <a:chExt cx="2926080" cy="621792"/>
          </a:xfrm>
        </p:grpSpPr>
        <p:sp>
          <p:nvSpPr>
            <p:cNvPr id="43" name="Shape 41"/>
            <p:cNvSpPr/>
            <p:nvPr/>
          </p:nvSpPr>
          <p:spPr>
            <a:xfrm>
              <a:off x="5623560" y="2907792"/>
              <a:ext cx="2926080" cy="621792"/>
            </a:xfrm>
            <a:prstGeom prst="roundRect">
              <a:avLst>
                <a:gd name="adj" fmla="val 14706"/>
              </a:avLst>
            </a:prstGeom>
            <a:solidFill>
              <a:srgbClr val="7B1FA2"/>
            </a:solidFill>
            <a:ln w="12700">
              <a:solidFill>
                <a:srgbClr val="7B1FA2"/>
              </a:solidFill>
              <a:prstDash val="solid"/>
            </a:ln>
          </p:spPr>
          <p:txBody>
            <a:bodyPr/>
            <a:lstStyle/>
            <a:p>
              <a:endParaRPr lang="ko-KR" altLang="en-US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5623560" y="2907792"/>
              <a:ext cx="14630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💻  클라이언트 PC</a:t>
              </a:r>
              <a:endParaRPr lang="en-US" sz="12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7086600" y="2971800"/>
              <a:ext cx="137160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E1BEE7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  <a:cs typeface="Consolas" pitchFamily="34" charset="-120"/>
                </a:rPr>
                <a:t>D:\Aurora_EXE_1.0.0.0\</a:t>
              </a:r>
              <a:endParaRPr 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E12660F-5776-FCF4-7CBD-75D279247BF1}"/>
              </a:ext>
            </a:extLst>
          </p:cNvPr>
          <p:cNvGrpSpPr/>
          <p:nvPr/>
        </p:nvGrpSpPr>
        <p:grpSpPr>
          <a:xfrm>
            <a:off x="5623560" y="1783080"/>
            <a:ext cx="3012440" cy="621792"/>
            <a:chOff x="5623560" y="1783080"/>
            <a:chExt cx="3012440" cy="621792"/>
          </a:xfrm>
        </p:grpSpPr>
        <p:sp>
          <p:nvSpPr>
            <p:cNvPr id="37" name="Shape 35"/>
            <p:cNvSpPr/>
            <p:nvPr/>
          </p:nvSpPr>
          <p:spPr>
            <a:xfrm>
              <a:off x="5623560" y="1783080"/>
              <a:ext cx="2926080" cy="621792"/>
            </a:xfrm>
            <a:prstGeom prst="roundRect">
              <a:avLst>
                <a:gd name="adj" fmla="val 14706"/>
              </a:avLst>
            </a:prstGeom>
            <a:solidFill>
              <a:srgbClr val="1976D2"/>
            </a:solidFill>
            <a:ln w="12700">
              <a:solidFill>
                <a:srgbClr val="1976D2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5623560" y="1783080"/>
              <a:ext cx="128016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</a:rPr>
                <a:t>🖥  서버 PC</a:t>
              </a:r>
              <a:endParaRPr lang="en-US" sz="13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6807200" y="1847088"/>
              <a:ext cx="182880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BBDEFB"/>
                  </a:solidFill>
                  <a:latin typeface="LG Smart UI Regular" panose="020B0500000101010101" pitchFamily="50" charset="-127"/>
                  <a:ea typeface="LG Smart UI Regular" panose="020B0500000101010101" pitchFamily="50" charset="-127"/>
                  <a:cs typeface="Consolas" pitchFamily="34" charset="-120"/>
                </a:rPr>
                <a:t>D:\releases\v1.0.0\x64-Debug</a:t>
              </a:r>
              <a:endParaRPr lang="en-US" sz="800" dirty="0">
                <a:latin typeface="LG Smart UI Regular" panose="020B0500000101010101" pitchFamily="50" charset="-127"/>
                <a:ea typeface="LG Smart UI Regular" panose="020B0500000101010101" pitchFamily="50" charset="-127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06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클라이언트 명령 처리 흐름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📡  명령 수신  (POST /command :9001)  →  명령 종류에 따라 처리 분기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2356" y="1773936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" y="17739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start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16736" y="2157984"/>
            <a:ext cx="0" cy="109728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" y="2267712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" y="22677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 실행 중?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316736" y="2651760"/>
            <a:ext cx="0" cy="9144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" y="274320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" y="2743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NO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Aurora.exe 실행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316736" y="3127248"/>
            <a:ext cx="0" cy="9144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" y="321868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" y="3218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YES → 이미 실행중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로그 기록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16736" y="3602736"/>
            <a:ext cx="0" cy="9144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" y="3694176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" y="36941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3초 후 상태 보고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(서버 → ● 실행중)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189988" y="1773936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89988" y="17739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stop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944368" y="2157984"/>
            <a:ext cx="0" cy="109728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89988" y="2267712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89988" y="22677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 프로세스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목록 탐색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944368" y="2651760"/>
            <a:ext cx="0" cy="9144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89988" y="274320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89988" y="2743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프로세스 존재?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944368" y="3127248"/>
            <a:ext cx="0" cy="9144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89988" y="321868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89988" y="3218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YES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taskkill 강제 종료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944368" y="3602736"/>
            <a:ext cx="0" cy="9144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89988" y="3694176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89988" y="36941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3초 후 상태 보고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(서버 → ○ 중지)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817620" y="1773936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7620" y="17739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setpath: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&lt;경로&gt;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572000" y="2157984"/>
            <a:ext cx="0" cy="109728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17620" y="2267712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17620" y="22677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경로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config 저장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572000" y="2651760"/>
            <a:ext cx="0" cy="9144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17620" y="274320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7620" y="2743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레지스트리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자동 실행 갱신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572000" y="3127248"/>
            <a:ext cx="0" cy="9144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17620" y="321868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17620" y="3218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 재시작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(새 경로 적용)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572000" y="3602736"/>
            <a:ext cx="0" cy="9144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17620" y="3694176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17620" y="36941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LOG 기록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445252" y="1773936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45252" y="17739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ping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6199632" y="2157984"/>
            <a:ext cx="0" cy="109728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45252" y="2267712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45252" y="22677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server_ips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목록 조회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199632" y="2651760"/>
            <a:ext cx="0" cy="9144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445252" y="274320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45252" y="2743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각 IP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병렬 핑 실행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6199632" y="3127248"/>
            <a:ext cx="0" cy="9144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45252" y="321868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5252" y="3218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설정탭 UI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결과 업데이트(ms)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7072884" y="1773936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72884" y="17739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setpingmode: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&lt;mode&gt;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7827264" y="2157984"/>
            <a:ext cx="0" cy="109728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72884" y="2267712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72884" y="22677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mode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config 저장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827264" y="2651760"/>
            <a:ext cx="0" cy="91440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072884" y="274320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72884" y="27432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UI 버튼 갱신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(Manual↔Auto)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7827264" y="3127248"/>
            <a:ext cx="0" cy="91440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72884" y="321868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72884" y="32186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Auto 모드?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7827264" y="3602736"/>
            <a:ext cx="0" cy="91440"/>
          </a:xfrm>
          <a:prstGeom prst="line">
            <a:avLst/>
          </a:prstGeom>
          <a:noFill/>
          <a:ln w="19050">
            <a:solidFill>
              <a:srgbClr val="7B1FA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072884" y="3694176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072884" y="36941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YES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5초 자동 핑 루프 시작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457200" y="4681728"/>
            <a:ext cx="8229600" cy="237744"/>
          </a:xfrm>
          <a:prstGeom prst="roundRect">
            <a:avLst>
              <a:gd name="adj" fmla="val 19231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57200" y="4681728"/>
            <a:ext cx="8229600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1520" y="4727448"/>
            <a:ext cx="146304" cy="146304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32688" y="4690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판별 / 조건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2286000" y="4727448"/>
            <a:ext cx="146304" cy="14630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487168" y="4690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처리 단계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3794760" y="4727448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995928" y="4690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완료 / 성공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5303520" y="4727448"/>
            <a:ext cx="146304" cy="14630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504688" y="4690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종료 / 강제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6766560" y="4727448"/>
            <a:ext cx="146304" cy="146304"/>
          </a:xfrm>
          <a:prstGeom prst="ellipse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967728" y="46908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로그 / 스킵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07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배포 뷰 — 폴더 단위 배포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사용 순서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837944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37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9536" y="18196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소스 폴더 선택 (버전별 하위 폴더 있는 부모 폴더)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203704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258568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58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9536" y="2240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적용 → 클라이언트 콤보박스에 하위 폴더 목록 채워짐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62432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679192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679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3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9536" y="26609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내부 경로 입력 (선택) — 예: x64-Debug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044952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099816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099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4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9536" y="3081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각 클라이언트별 소스 폴더(버전) 선택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465576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3520440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5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9536" y="35021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버전명 입력 후 적용 (서버 뷰에서)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3941064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6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9536" y="39227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체크박스로 배포할 클라이언트 선택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4306824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4361688"/>
            <a:ext cx="237744" cy="23774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361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7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59536" y="4343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▲ 배포하기 클릭 → 1대씩 순차 배포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경로 규칙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663440" y="173736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1792224"/>
            <a:ext cx="4114800" cy="703072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1856232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소스 부모 폴더: D:\releases</a:t>
            </a:r>
            <a:endParaRPr lang="en-US" sz="900" dirty="0">
              <a:solidFill>
                <a:schemeClr val="bg2">
                  <a:lumMod val="25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소스 폴더:      v1.0.0</a:t>
            </a:r>
            <a:endParaRPr lang="en-US" sz="900" dirty="0">
              <a:solidFill>
                <a:schemeClr val="bg2">
                  <a:lumMod val="25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내부 경로:      x64-Debug</a:t>
            </a:r>
            <a:endParaRPr lang="en-US" sz="900" dirty="0">
              <a:solidFill>
                <a:schemeClr val="bg2">
                  <a:lumMod val="25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chemeClr val="bg2">
                    <a:lumMod val="25000"/>
                  </a:schemeClr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→ 실제 소스: D:\releases\v1.0.0\x64-Debug\</a:t>
            </a:r>
            <a:endParaRPr lang="en-US" sz="900" dirty="0">
              <a:solidFill>
                <a:schemeClr val="bg2">
                  <a:lumMod val="25000"/>
                </a:schemeClr>
              </a:solidFill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754880" y="2606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버전명 1.0.0.0 → 대상: \\IP\D$\Aurora_EXE_1.0.0.0\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663440" y="329184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54880" y="33649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📋</a:t>
            </a:r>
            <a:endParaRPr lang="en-US" sz="2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257800" y="334670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1대씩 순차 배포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행별 진행률 표시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766560" y="329184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858000" y="33649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⏹</a:t>
            </a:r>
            <a:endParaRPr lang="en-US" sz="2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360920" y="334670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■ 중단 버튼으로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취소 가능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663440" y="411480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54880" y="41879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💾</a:t>
            </a:r>
            <a:endParaRPr lang="en-US" sz="2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257800" y="416966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적용 — 선택값 저장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새로고침 — 복원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766560" y="411480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858000" y="41879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📡</a:t>
            </a:r>
            <a:endParaRPr lang="en-US" sz="2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360920" y="416966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완료 후 setpath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명령 자동 전송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08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단일 배포 뷰 — 파일 단위 배포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특정 파일만 선택하여 배포 · 기존 파일 자동 백업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3664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83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7824" y="1874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소스 폴더 선택 후 적용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59152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59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2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77824" y="2350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파일 목록에서 배포할 파일 체크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834640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3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77824" y="2825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대상 클라이언트 체크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2369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310128"/>
            <a:ext cx="237744" cy="237744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4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77824" y="3300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▲ 배포하기 클릭 → 모든 클라이언트에 병렬 처리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803904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03904"/>
            <a:ext cx="13716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자동 백업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" y="41330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Aurora.exe  →  Aurora_20260613_143022.exe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백업 형식: 파일명_YYYYMMDD_HHmmss.확장자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14173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1508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화면 구성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80" y="1847088"/>
            <a:ext cx="182880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파일 목록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00600" y="21396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☑ Aurora.exe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00600" y="2487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☑ config.ini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00600" y="2834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☐ readme.txt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720840" y="1847088"/>
            <a:ext cx="192024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1847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대상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66560" y="21396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☑ CLIENT 01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766560" y="2487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☑ CLIENT 02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66560" y="28346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☐ CLIENT 03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212080" y="333756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▲  배포하기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5488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모든 클라이언트에 병렬 처리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754880" y="4133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클라이언트 HTTP 통신 불필요 (UNC 공유 직접 접근)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09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클라이언트 프로그램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설정 패널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IP 목록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03120" y="1847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여러 개 등록 가능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포트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3120" y="2194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9000 (기본값)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수신 포트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0312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9001 (기본값)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89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 경로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03120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폴더 경로만 입력 가능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499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수신 명령 종류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1847088"/>
            <a:ext cx="146304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856232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start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09360" y="18562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Aurora.exe 실행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139696"/>
            <a:ext cx="146304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14884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stop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Aurora.exe 강제 종료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2432304"/>
            <a:ext cx="146304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441448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setpath:&lt;경로&gt;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09360" y="2441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 경로 갱신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54880" y="2724912"/>
            <a:ext cx="146304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734056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ping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9360" y="27340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IP 전체 핑 실행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1463040" cy="25603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026664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setpingmode:&lt;mode&gt;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09360" y="3026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핑 모드 변경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3493008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493008"/>
            <a:ext cx="137160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수동 제어 (긴급용)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13232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▶ Aurora 실행 — 즉시 실행 (중복 실행 방지)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13232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■ Aurora 종료 — 프로세스 강제 종료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46320" y="3493008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493008"/>
            <a:ext cx="137160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자동 기능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02352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부팅 시 레지스트리 자동 등록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102352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Aurora Watchdog — 5초마다 확인 후 자동 재시작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02352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• 자동 삭제 — 규칙별 매일 자정 실행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10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핑(Ping) 기능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321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</a:t>
            </a:r>
            <a:endParaRPr lang="en-US" sz="15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0" y="16002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600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</a:t>
            </a:r>
            <a:endParaRPr lang="en-US" sz="15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34640" y="16642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직접 ICMP 핑 →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34640" y="1901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35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← "ping" 명령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09360" y="17190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"ping" 명령 수신 → server_ips 전체 핑 → 설정탭에 ms 표시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🖱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34440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Manual 모드</a:t>
            </a:r>
            <a:endParaRPr lang="en-US" sz="14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34440" y="3200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전체 핑 버튼 클릭 시에만 핑 전송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3493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원할 때만 한 번씩 확인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전체 핑 버튼 활성화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278892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88036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🔄</a:t>
            </a:r>
            <a:endParaRPr lang="en-US" sz="1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40680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Auto 모드</a:t>
            </a:r>
            <a:endParaRPr lang="en-US" sz="14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40680" y="3200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5초마다 자동으로 전체 핑 전송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34930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실시간 모니터링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전체 핑 버튼 비활성화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핑 결과 색상 기준: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194560" y="4334256"/>
            <a:ext cx="201168" cy="2011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녹색  10ms 미만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89120" y="4334256"/>
            <a:ext cx="201168" cy="201168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7F17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노랑  10~50ms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583680" y="4334256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9712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62828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빨강  50ms 이상 / 시간초과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4608576"/>
            <a:ext cx="328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⚠  모든 서버를 동일한 모드로 맞춰야 전체 환경에서 동작합니다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11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설정 파일 &amp; 방화벽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90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976D2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server_config.json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66160" cy="224028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47088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{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"client_ips": ["192.168.11.1"],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"server_port": 9000,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"client_port": 9001,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"deploy_src": "D:\\releases",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"deploy_version": "1.0.0.0",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"deploy_inner_path": "x64-Debug",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"deploy_user": "user",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"deploy_pw": "1",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"ping_mode": "manual"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}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490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client_config.json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3840480" cy="12618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847088"/>
            <a:ext cx="37490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{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"server_ips": ["192.168.11.7"],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"server_port": 9000,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"listen_port": 9001,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"aurora_path": "D:\\Aurora_EXE_1.0.0.0",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  "ping_mode": "manual"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onsolas" pitchFamily="34" charset="-120"/>
              </a:rPr>
              <a:t>}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338328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방화벽 설정</a:t>
            </a:r>
            <a:endParaRPr lang="en-US" sz="12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754880" y="3767328"/>
            <a:ext cx="914400" cy="2560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379476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PC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60720" y="3767328"/>
            <a:ext cx="731520" cy="2560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37947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포트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0" y="3767328"/>
            <a:ext cx="731520" cy="2560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7947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방향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32320" y="3767328"/>
            <a:ext cx="1645920" cy="25603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379476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용도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4096512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41239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PC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0" y="4096512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9008" y="412394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TCP 9000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92240" y="4096512"/>
            <a:ext cx="731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412394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인바운드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132320" y="4096512"/>
            <a:ext cx="1645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412394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 상태 보고 수신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4425696"/>
            <a:ext cx="91440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445312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 PC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760720" y="4425696"/>
            <a:ext cx="73152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445312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TCP 9001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92240" y="4425696"/>
            <a:ext cx="73152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445312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인바운드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132320" y="4425696"/>
            <a:ext cx="1645920" cy="274320"/>
          </a:xfrm>
          <a:prstGeom prst="rect">
            <a:avLst/>
          </a:prstGeom>
          <a:solidFill>
            <a:srgbClr val="E3F2FD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0608" y="445312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12121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명령 수신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12</a:t>
            </a:r>
            <a:endParaRPr lang="en-US" sz="13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  <a:cs typeface="Calibri" pitchFamily="34" charset="-120"/>
              </a:rPr>
              <a:t>문제 해결</a:t>
            </a:r>
            <a:endParaRPr lang="en-US" sz="28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Q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472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클라이언트가 오프라인으로 표시됨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→ 클라이언트 실행 여부 · 등록 IP · 포트 9000 방화벽 확인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04872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Q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2368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전체 실행 눌러도 Aurora 안 켜짐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679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→ 온라인 상태 확인 · Aurora 경로 확인 · 클라이언트 LOG 확인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00984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Q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포트 변경 후 통신 안 됨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575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→ 서버·클라이언트 모두 재시작 · 방화벽 새 포트 허용 · 포트 일치 확인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105656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197096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97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Q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배포 실패 (폴더/단일)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960" y="4471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→ 공유 폴더(\\IP\D$) 접근 가능 여부 · 계정(user/1) · 방화벽 확인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50876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508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Q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12080" y="1472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중복 실행 팝업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12080" y="1783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→ 트레이에 이미 실행 중 → 트레이 아이콘 우클릭 → 열기 선택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46320" y="2313432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404872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4048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Q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12080" y="2368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Auto 핑인데 일부 서버만 동작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12080" y="2679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→ 해당 서버의 핑 모드가 Manual인지 확인 후 Auto로 변경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46320" y="3209544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37760" y="3300984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Q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21208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설정이 초기화됨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212080" y="3575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→ EXE와 같은 폴더에 JSON 파일 존재 여부 확인 · EXE 위치 변경 시 JSON도 이동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46320" y="4105656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4197096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4197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Q</a:t>
            </a:r>
            <a:endParaRPr lang="en-US" sz="9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12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7E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단일 배포 후 백업 파일 과다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212080" y="4471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46E7A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→ 클라이언트 해당 폴더에서 파일명_날짜시간.확장자 형태 파일 수동 정리</a:t>
            </a:r>
            <a:endParaRPr lang="en-US" sz="10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4400" dirty="0">
                <a:solidFill>
                  <a:srgbClr val="90CAF9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Aurora Remote Controller</a:t>
            </a:r>
            <a:endParaRPr lang="en-US" altLang="ko-KR" sz="44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0" y="329184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291840"/>
            <a:ext cx="20116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C9B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서버 포트: 9000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0" y="329184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3291840"/>
            <a:ext cx="20116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C9B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클라이언트 포트: 9001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43600" y="329184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3291840"/>
            <a:ext cx="20116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5C9B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빌드: build.bat</a:t>
            </a:r>
            <a:endParaRPr lang="en-US" sz="1100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1731</Words>
  <Application>Microsoft Office PowerPoint</Application>
  <PresentationFormat>화면 슬라이드 쇼(16:9)</PresentationFormat>
  <Paragraphs>439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LG Smart UI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Remote Controller 사용 매뉴얼</dc:title>
  <dc:subject>PptxGenJS Presentation</dc:subject>
  <dc:creator>PptxGenJS</dc:creator>
  <cp:lastModifiedBy>최민영</cp:lastModifiedBy>
  <cp:revision>45</cp:revision>
  <dcterms:created xsi:type="dcterms:W3CDTF">2026-06-13T21:18:26Z</dcterms:created>
  <dcterms:modified xsi:type="dcterms:W3CDTF">2026-06-13T23:33:57Z</dcterms:modified>
</cp:coreProperties>
</file>